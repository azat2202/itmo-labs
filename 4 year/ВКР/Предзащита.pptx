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870" r:id="rId1"/>
  </p:sldMasterIdLst>
  <p:notesMasterIdLst>
    <p:notesMasterId r:id="rId36"/>
  </p:notesMasterIdLst>
  <p:handoutMasterIdLst>
    <p:handoutMasterId r:id="rId37"/>
  </p:handoutMasterIdLst>
  <p:sldIdLst>
    <p:sldId id="265" r:id="rId2"/>
    <p:sldId id="334" r:id="rId3"/>
    <p:sldId id="336" r:id="rId4"/>
    <p:sldId id="328" r:id="rId5"/>
    <p:sldId id="335" r:id="rId6"/>
    <p:sldId id="338" r:id="rId7"/>
    <p:sldId id="339" r:id="rId8"/>
    <p:sldId id="340" r:id="rId9"/>
    <p:sldId id="342" r:id="rId10"/>
    <p:sldId id="343" r:id="rId11"/>
    <p:sldId id="344" r:id="rId12"/>
    <p:sldId id="345" r:id="rId13"/>
    <p:sldId id="341" r:id="rId14"/>
    <p:sldId id="346" r:id="rId15"/>
    <p:sldId id="347" r:id="rId16"/>
    <p:sldId id="348" r:id="rId17"/>
    <p:sldId id="349" r:id="rId18"/>
    <p:sldId id="350" r:id="rId19"/>
    <p:sldId id="351" r:id="rId20"/>
    <p:sldId id="263" r:id="rId21"/>
    <p:sldId id="324" r:id="rId22"/>
    <p:sldId id="325" r:id="rId23"/>
    <p:sldId id="322" r:id="rId24"/>
    <p:sldId id="326" r:id="rId25"/>
    <p:sldId id="327" r:id="rId26"/>
    <p:sldId id="316" r:id="rId27"/>
    <p:sldId id="315" r:id="rId28"/>
    <p:sldId id="317" r:id="rId29"/>
    <p:sldId id="319" r:id="rId30"/>
    <p:sldId id="320" r:id="rId31"/>
    <p:sldId id="331" r:id="rId32"/>
    <p:sldId id="280" r:id="rId33"/>
    <p:sldId id="310" r:id="rId34"/>
    <p:sldId id="305" r:id="rId35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11">
          <p15:clr>
            <a:srgbClr val="A4A3A4"/>
          </p15:clr>
        </p15:guide>
        <p15:guide id="2" pos="2874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2595315-6059-63B0-9BE8-AAFD11894995}" name="Елена Иванченко" initials="ЕИ" userId="7f7d7db965285a96" providerId="Windows Liv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Самолетов" initials="С" lastIdx="3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Средний стиль 2 —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Средний стиль 2 — акцент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Средний стиль 2 — акцент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817" autoAdjust="0"/>
    <p:restoredTop sz="94712" autoAdjust="0"/>
  </p:normalViewPr>
  <p:slideViewPr>
    <p:cSldViewPr snapToGrid="0" snapToObjects="1" showGuides="1">
      <p:cViewPr varScale="1">
        <p:scale>
          <a:sx n="184" d="100"/>
          <a:sy n="184" d="100"/>
        </p:scale>
        <p:origin x="616" y="184"/>
      </p:cViewPr>
      <p:guideLst>
        <p:guide orient="horz" pos="1611"/>
        <p:guide pos="287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85" d="100"/>
          <a:sy n="85" d="100"/>
        </p:scale>
        <p:origin x="388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handoutMaster" Target="handoutMasters/handoutMaster1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8/10/relationships/authors" Target="author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412975-4CFD-C441-A244-B7FD9A9579C2}" type="datetimeFigureOut">
              <a:rPr lang="en-US" smtClean="0"/>
              <a:pPr/>
              <a:t>5/20/26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D660DC-725D-2A44-9F89-74FE668A9C6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12542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AFD1C8-470D-774F-8B40-381C3059BD4A}" type="datetimeFigureOut">
              <a:rPr lang="en-US" smtClean="0"/>
              <a:pPr/>
              <a:t>5/20/26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49711C-DB87-6342-8123-FE7E39EB00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07329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5098416" y="49027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5910801" y="42723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7783B35-4D64-24CD-46E0-32E9FC276C40}"/>
              </a:ext>
            </a:extLst>
          </p:cNvPr>
          <p:cNvSpPr txBox="1"/>
          <p:nvPr userDrawn="1"/>
        </p:nvSpPr>
        <p:spPr>
          <a:xfrm>
            <a:off x="5098416" y="49027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FEFD47-67FA-CC9C-A247-DDA306E69DC7}"/>
              </a:ext>
            </a:extLst>
          </p:cNvPr>
          <p:cNvSpPr txBox="1"/>
          <p:nvPr userDrawn="1"/>
        </p:nvSpPr>
        <p:spPr>
          <a:xfrm>
            <a:off x="5910801" y="42723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B74B261-5474-8217-1C1F-DF8DF956D9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5A92729-C745-7CCF-6847-2DF14BA7138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7199" y="1040162"/>
            <a:ext cx="8389257" cy="373503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2000" baseline="0"/>
            </a:lvl1pPr>
            <a:lvl2pPr marL="457200" indent="0">
              <a:buFont typeface="Arial" panose="020B0604020202020204" pitchFamily="34" charset="0"/>
              <a:buNone/>
              <a:defRPr sz="2400"/>
            </a:lvl2pPr>
            <a:lvl3pPr marL="914400" indent="0">
              <a:buFont typeface="Arial" panose="020B0604020202020204" pitchFamily="34" charset="0"/>
              <a:buNone/>
              <a:defRPr sz="20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ru-RU" sz="20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  <a:p>
            <a:endParaRPr lang="ru-RU" sz="2000" dirty="0"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8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</p:spTree>
    <p:extLst>
      <p:ext uri="{BB962C8B-B14F-4D97-AF65-F5344CB8AC3E}">
        <p14:creationId xmlns:p14="http://schemas.microsoft.com/office/powerpoint/2010/main" val="35997768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kfq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7200" y="1211943"/>
            <a:ext cx="7467600" cy="3447143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400" baseline="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ru-RU" sz="24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  <a:p>
            <a:endParaRPr lang="ru-RU" sz="2400" dirty="0"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20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</p:spTree>
    <p:extLst>
      <p:ext uri="{BB962C8B-B14F-4D97-AF65-F5344CB8AC3E}">
        <p14:creationId xmlns:p14="http://schemas.microsoft.com/office/powerpoint/2010/main" val="35097158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7">
            <a:extLst>
              <a:ext uri="{FF2B5EF4-FFF2-40B4-BE49-F238E27FC236}">
                <a16:creationId xmlns:a16="http://schemas.microsoft.com/office/drawing/2014/main" id="{DC7664A4-1431-5B79-D831-F6220EA4364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7999" y="17922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r>
              <a:rPr lang="ru-RU" sz="12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</p:txBody>
      </p:sp>
      <p:sp>
        <p:nvSpPr>
          <p:cNvPr id="4" name="Текст 13">
            <a:extLst>
              <a:ext uri="{FF2B5EF4-FFF2-40B4-BE49-F238E27FC236}">
                <a16:creationId xmlns:a16="http://schemas.microsoft.com/office/drawing/2014/main" id="{9A5E5274-1C05-A7BB-B9D5-BE8CD4A5E9F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7999" y="11824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5" name="Текст 7">
            <a:extLst>
              <a:ext uri="{FF2B5EF4-FFF2-40B4-BE49-F238E27FC236}">
                <a16:creationId xmlns:a16="http://schemas.microsoft.com/office/drawing/2014/main" id="{5FC28AB9-3129-9DBE-782C-D2B113A5A6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00171" y="30114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200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2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2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  <p:sp>
        <p:nvSpPr>
          <p:cNvPr id="6" name="Текст 13">
            <a:extLst>
              <a:ext uri="{FF2B5EF4-FFF2-40B4-BE49-F238E27FC236}">
                <a16:creationId xmlns:a16="http://schemas.microsoft.com/office/drawing/2014/main" id="{12C4E9B1-800A-20F6-E4F7-84C6B3BE946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00171" y="24016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D8C1609-7E48-B73D-CDA4-19FD56B59E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93299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2">
            <a:extLst>
              <a:ext uri="{FF2B5EF4-FFF2-40B4-BE49-F238E27FC236}">
                <a16:creationId xmlns:a16="http://schemas.microsoft.com/office/drawing/2014/main" id="{256F42A0-92A9-ED41-A4B6-1B839857D47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57200" y="936852"/>
            <a:ext cx="4608513" cy="3842155"/>
          </a:xfrm>
          <a:prstGeom prst="roundRect">
            <a:avLst>
              <a:gd name="adj" fmla="val 7784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AA1A601-605F-FFE8-0BFA-9EB221F44B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E555EF72-8579-6966-364E-7EB76150977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08171" y="1153886"/>
            <a:ext cx="2532743" cy="3425371"/>
          </a:xfrm>
        </p:spPr>
        <p:txBody>
          <a:bodyPr>
            <a:normAutofit/>
          </a:bodyPr>
          <a:lstStyle>
            <a:lvl1pPr marL="0" indent="0">
              <a:buNone/>
              <a:defRPr sz="120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r>
              <a:rPr lang="ru-RU" sz="14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</p:txBody>
      </p:sp>
    </p:spTree>
    <p:extLst>
      <p:ext uri="{BB962C8B-B14F-4D97-AF65-F5344CB8AC3E}">
        <p14:creationId xmlns:p14="http://schemas.microsoft.com/office/powerpoint/2010/main" val="4394751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0393FA-3ECC-3158-E15E-58890F60BD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13DB0C6-E4DE-9A4B-998D-34852F1B3E9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7199" y="1040162"/>
            <a:ext cx="8389257" cy="373503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800" b="0" baseline="0"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 sz="2400"/>
            </a:lvl2pPr>
            <a:lvl3pPr marL="914400" indent="0">
              <a:buFont typeface="Arial" panose="020B0604020202020204" pitchFamily="34" charset="0"/>
              <a:buNone/>
              <a:defRPr sz="20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2000" dirty="0">
                <a:latin typeface="Golos Text" panose="020B0503020202020204"/>
              </a:rPr>
              <a:t>Основной текст слайда, ключевая формулировка</a:t>
            </a:r>
          </a:p>
        </p:txBody>
      </p:sp>
    </p:spTree>
    <p:extLst>
      <p:ext uri="{BB962C8B-B14F-4D97-AF65-F5344CB8AC3E}">
        <p14:creationId xmlns:p14="http://schemas.microsoft.com/office/powerpoint/2010/main" val="40345594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8ABD215D-CFC7-1CAC-2144-1C4A51F1FEB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4113" y="1233715"/>
            <a:ext cx="7170057" cy="3410856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 baseline="0"/>
            </a:lvl1pPr>
            <a:lvl2pPr marL="457200" indent="0">
              <a:buFontTx/>
              <a:buNone/>
              <a:defRPr sz="1600" baseline="0"/>
            </a:lvl2pPr>
            <a:lvl3pPr marL="914400" indent="0">
              <a:buFontTx/>
              <a:buNone/>
              <a:defRPr sz="1600" baseline="0"/>
            </a:lvl3pPr>
            <a:lvl4pPr marL="1371600" indent="0">
              <a:buFontTx/>
              <a:buNone/>
              <a:defRPr sz="1600" baseline="0"/>
            </a:lvl4pPr>
            <a:lvl5pPr>
              <a:buFontTx/>
              <a:buNone/>
              <a:defRPr sz="1600" baseline="0"/>
            </a:lvl5pPr>
          </a:lstStyle>
          <a:p>
            <a:r>
              <a:rPr lang="ru-RU" sz="16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  <a:p>
            <a:endParaRPr lang="ru-RU" sz="1600" dirty="0"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4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8569F4-01AC-6221-63B9-0F06F87F25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74149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Текст 7">
            <a:extLst>
              <a:ext uri="{FF2B5EF4-FFF2-40B4-BE49-F238E27FC236}">
                <a16:creationId xmlns:a16="http://schemas.microsoft.com/office/drawing/2014/main" id="{36D9692A-5DC0-3DF1-F516-70164F11C5A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7999" y="17922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r>
              <a:rPr lang="ru-RU" sz="12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</p:txBody>
      </p:sp>
      <p:sp>
        <p:nvSpPr>
          <p:cNvPr id="16" name="Текст 13">
            <a:extLst>
              <a:ext uri="{FF2B5EF4-FFF2-40B4-BE49-F238E27FC236}">
                <a16:creationId xmlns:a16="http://schemas.microsoft.com/office/drawing/2014/main" id="{C2C41F40-A63A-48C4-01DC-A4A13BB7B83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7999" y="11824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D5B27C-CA4C-7381-3F84-F0595A76CE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3" name="Текст 7">
            <a:extLst>
              <a:ext uri="{FF2B5EF4-FFF2-40B4-BE49-F238E27FC236}">
                <a16:creationId xmlns:a16="http://schemas.microsoft.com/office/drawing/2014/main" id="{2AA24315-FE73-04A8-D530-E746EC0C202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00171" y="30114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200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2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2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  <p:sp>
        <p:nvSpPr>
          <p:cNvPr id="4" name="Текст 13">
            <a:extLst>
              <a:ext uri="{FF2B5EF4-FFF2-40B4-BE49-F238E27FC236}">
                <a16:creationId xmlns:a16="http://schemas.microsoft.com/office/drawing/2014/main" id="{69578C56-72EB-AE17-C6D4-CE1E8FBA306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00171" y="24016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30189341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8AE2ED3E-3221-72A5-8340-4E08819C8F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Рисунок 2">
            <a:extLst>
              <a:ext uri="{FF2B5EF4-FFF2-40B4-BE49-F238E27FC236}">
                <a16:creationId xmlns:a16="http://schemas.microsoft.com/office/drawing/2014/main" id="{19B43694-08A8-116E-FA12-468591D136C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57200" y="936852"/>
            <a:ext cx="4608513" cy="3842155"/>
          </a:xfrm>
          <a:prstGeom prst="roundRect">
            <a:avLst>
              <a:gd name="adj" fmla="val 7952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5" name="Текст 6">
            <a:extLst>
              <a:ext uri="{FF2B5EF4-FFF2-40B4-BE49-F238E27FC236}">
                <a16:creationId xmlns:a16="http://schemas.microsoft.com/office/drawing/2014/main" id="{E75CB8B0-7394-87DF-B065-6F242AB2D01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08171" y="1153886"/>
            <a:ext cx="2532743" cy="3425371"/>
          </a:xfrm>
        </p:spPr>
        <p:txBody>
          <a:bodyPr>
            <a:normAutofit/>
          </a:bodyPr>
          <a:lstStyle>
            <a:lvl1pPr marL="0" indent="0">
              <a:buNone/>
              <a:defRPr sz="140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400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4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4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</p:spTree>
    <p:extLst>
      <p:ext uri="{BB962C8B-B14F-4D97-AF65-F5344CB8AC3E}">
        <p14:creationId xmlns:p14="http://schemas.microsoft.com/office/powerpoint/2010/main" val="19933665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BE98E654-ABDC-7E78-775E-43A2D6214C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5D71CC7-EEA6-E9D0-68AD-36562CCF6071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7199" y="1040162"/>
            <a:ext cx="8389257" cy="373503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800" b="0" baseline="0"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 sz="2400"/>
            </a:lvl2pPr>
            <a:lvl3pPr marL="914400" indent="0">
              <a:buFont typeface="Arial" panose="020B0604020202020204" pitchFamily="34" charset="0"/>
              <a:buNone/>
              <a:defRPr sz="20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2000" dirty="0">
                <a:latin typeface="Golos Text" panose="020B0503020202020204"/>
              </a:rPr>
              <a:t>Основной текст слайда, ключевая формулировка</a:t>
            </a:r>
          </a:p>
        </p:txBody>
      </p:sp>
    </p:spTree>
    <p:extLst>
      <p:ext uri="{BB962C8B-B14F-4D97-AF65-F5344CB8AC3E}">
        <p14:creationId xmlns:p14="http://schemas.microsoft.com/office/powerpoint/2010/main" val="25408186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8ABD215D-CFC7-1CAC-2144-1C4A51F1FEB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4113" y="1233715"/>
            <a:ext cx="7170057" cy="3410856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 baseline="0"/>
            </a:lvl1pPr>
            <a:lvl2pPr marL="457200" indent="0">
              <a:buFontTx/>
              <a:buNone/>
              <a:defRPr sz="1600" baseline="0"/>
            </a:lvl2pPr>
            <a:lvl3pPr marL="914400" indent="0">
              <a:buFontTx/>
              <a:buNone/>
              <a:defRPr sz="1600" baseline="0"/>
            </a:lvl3pPr>
            <a:lvl4pPr marL="1371600" indent="0">
              <a:buFontTx/>
              <a:buNone/>
              <a:defRPr sz="1600" baseline="0"/>
            </a:lvl4pPr>
            <a:lvl5pPr>
              <a:buFontTx/>
              <a:buNone/>
              <a:defRPr sz="1600" baseline="0"/>
            </a:lvl5pPr>
          </a:lstStyle>
          <a:p>
            <a:r>
              <a:rPr lang="ru-RU" sz="16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  <a:p>
            <a:endParaRPr lang="ru-RU" sz="1600" dirty="0"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4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8569F4-01AC-6221-63B9-0F06F87F25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33609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7">
            <a:extLst>
              <a:ext uri="{FF2B5EF4-FFF2-40B4-BE49-F238E27FC236}">
                <a16:creationId xmlns:a16="http://schemas.microsoft.com/office/drawing/2014/main" id="{3706F3BB-2486-D68F-6966-44BBD62CEC6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7999" y="17922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r>
              <a:rPr lang="ru-RU" sz="12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</p:txBody>
      </p:sp>
      <p:sp>
        <p:nvSpPr>
          <p:cNvPr id="4" name="Текст 13">
            <a:extLst>
              <a:ext uri="{FF2B5EF4-FFF2-40B4-BE49-F238E27FC236}">
                <a16:creationId xmlns:a16="http://schemas.microsoft.com/office/drawing/2014/main" id="{49722966-1EC6-6348-3A3A-25A27C8E506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7999" y="11824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5" name="Текст 7">
            <a:extLst>
              <a:ext uri="{FF2B5EF4-FFF2-40B4-BE49-F238E27FC236}">
                <a16:creationId xmlns:a16="http://schemas.microsoft.com/office/drawing/2014/main" id="{D2BFFE86-F97D-E925-927B-0F6BBD2D6EE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00171" y="30114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200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2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2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  <p:sp>
        <p:nvSpPr>
          <p:cNvPr id="6" name="Текст 13">
            <a:extLst>
              <a:ext uri="{FF2B5EF4-FFF2-40B4-BE49-F238E27FC236}">
                <a16:creationId xmlns:a16="http://schemas.microsoft.com/office/drawing/2014/main" id="{ADAF316B-52C6-704E-CB38-0E76498CD5E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00171" y="24016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D888714-60F8-FF59-CB87-38F52214F9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82600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8C44632-7642-B672-30DB-BEE8EBC23C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Рисунок 2">
            <a:extLst>
              <a:ext uri="{FF2B5EF4-FFF2-40B4-BE49-F238E27FC236}">
                <a16:creationId xmlns:a16="http://schemas.microsoft.com/office/drawing/2014/main" id="{AF7BB137-1C7F-56D5-5D41-70ED6DEA4C5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57200" y="936852"/>
            <a:ext cx="4608513" cy="3842155"/>
          </a:xfrm>
          <a:prstGeom prst="roundRect">
            <a:avLst>
              <a:gd name="adj" fmla="val 8957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5" name="Текст 6">
            <a:extLst>
              <a:ext uri="{FF2B5EF4-FFF2-40B4-BE49-F238E27FC236}">
                <a16:creationId xmlns:a16="http://schemas.microsoft.com/office/drawing/2014/main" id="{D9C7E817-A2F7-D228-2EB2-8CC27106359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08171" y="1153886"/>
            <a:ext cx="2532743" cy="3425371"/>
          </a:xfrm>
        </p:spPr>
        <p:txBody>
          <a:bodyPr>
            <a:normAutofit/>
          </a:bodyPr>
          <a:lstStyle>
            <a:lvl1pPr marL="0" indent="0">
              <a:buNone/>
              <a:defRPr sz="140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400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4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4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</p:spTree>
    <p:extLst>
      <p:ext uri="{BB962C8B-B14F-4D97-AF65-F5344CB8AC3E}">
        <p14:creationId xmlns:p14="http://schemas.microsoft.com/office/powerpoint/2010/main" val="29270353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21F5CFB9-FFF2-E218-2283-FA3AC247B8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1CCADC5-135D-DC69-A40F-E7939EE42C8E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7199" y="1040162"/>
            <a:ext cx="8389257" cy="373503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800" b="0" baseline="0"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 sz="2400"/>
            </a:lvl2pPr>
            <a:lvl3pPr marL="914400" indent="0">
              <a:buFont typeface="Arial" panose="020B0604020202020204" pitchFamily="34" charset="0"/>
              <a:buNone/>
              <a:defRPr sz="20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2000" dirty="0">
                <a:latin typeface="Golos Text" panose="020B0503020202020204"/>
              </a:rPr>
              <a:t>Основной текст слайда, ключевая формулировка</a:t>
            </a:r>
          </a:p>
        </p:txBody>
      </p:sp>
    </p:spTree>
    <p:extLst>
      <p:ext uri="{BB962C8B-B14F-4D97-AF65-F5344CB8AC3E}">
        <p14:creationId xmlns:p14="http://schemas.microsoft.com/office/powerpoint/2010/main" val="31102738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Финал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4">
            <a:extLst>
              <a:ext uri="{FF2B5EF4-FFF2-40B4-BE49-F238E27FC236}">
                <a16:creationId xmlns:a16="http://schemas.microsoft.com/office/drawing/2014/main" id="{164235EB-093A-2BDE-8127-460B61C5B6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4113" y="1233715"/>
            <a:ext cx="7170057" cy="3410856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600" baseline="0"/>
            </a:lvl1pPr>
            <a:lvl2pPr marL="457200" indent="0">
              <a:buFontTx/>
              <a:buNone/>
              <a:defRPr sz="1600" baseline="0"/>
            </a:lvl2pPr>
            <a:lvl3pPr marL="914400" indent="0">
              <a:buFontTx/>
              <a:buNone/>
              <a:defRPr sz="1600" baseline="0"/>
            </a:lvl3pPr>
            <a:lvl4pPr marL="1371600" indent="0">
              <a:buFontTx/>
              <a:buNone/>
              <a:defRPr sz="1600" baseline="0"/>
            </a:lvl4pPr>
            <a:lvl5pPr>
              <a:buFontTx/>
              <a:buNone/>
              <a:defRPr sz="1600" baseline="0"/>
            </a:lvl5pPr>
          </a:lstStyle>
          <a:p>
            <a:r>
              <a:rPr lang="ru-RU" sz="16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</a:t>
            </a:r>
          </a:p>
          <a:p>
            <a:endParaRPr lang="ru-RU" sz="1600" dirty="0"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6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6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6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6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конец списка.</a:t>
            </a:r>
          </a:p>
          <a:p>
            <a:pPr lvl="0"/>
            <a:endParaRPr lang="ru-RU" dirty="0"/>
          </a:p>
          <a:p>
            <a:pPr lvl="0"/>
            <a:endParaRPr lang="ru-RU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FD6E8F6-2854-A3A1-FCCA-4BC7B8C564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84405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125FAEC5-3811-8889-0016-6EA3B2AC41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Текст 7">
            <a:extLst>
              <a:ext uri="{FF2B5EF4-FFF2-40B4-BE49-F238E27FC236}">
                <a16:creationId xmlns:a16="http://schemas.microsoft.com/office/drawing/2014/main" id="{CAC739FE-CC7A-A005-60BE-713B90BFE7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7999" y="17922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r>
              <a:rPr lang="ru-RU" sz="12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</p:txBody>
      </p:sp>
      <p:sp>
        <p:nvSpPr>
          <p:cNvPr id="5" name="Текст 13">
            <a:extLst>
              <a:ext uri="{FF2B5EF4-FFF2-40B4-BE49-F238E27FC236}">
                <a16:creationId xmlns:a16="http://schemas.microsoft.com/office/drawing/2014/main" id="{0280BF47-780B-2175-23F6-FDC24D601FF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7999" y="11824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6" name="Текст 7">
            <a:extLst>
              <a:ext uri="{FF2B5EF4-FFF2-40B4-BE49-F238E27FC236}">
                <a16:creationId xmlns:a16="http://schemas.microsoft.com/office/drawing/2014/main" id="{E58E80D7-3F9A-CA73-1A7E-C864B8F1B1A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00171" y="30114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200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2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2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  <p:sp>
        <p:nvSpPr>
          <p:cNvPr id="7" name="Текст 13">
            <a:extLst>
              <a:ext uri="{FF2B5EF4-FFF2-40B4-BE49-F238E27FC236}">
                <a16:creationId xmlns:a16="http://schemas.microsoft.com/office/drawing/2014/main" id="{BF0BE89B-425E-821E-10AB-56C164DAED3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00171" y="24016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42062931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2">
            <a:extLst>
              <a:ext uri="{FF2B5EF4-FFF2-40B4-BE49-F238E27FC236}">
                <a16:creationId xmlns:a16="http://schemas.microsoft.com/office/drawing/2014/main" id="{F282CACE-D64E-E390-8227-23E049D60AA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57200" y="936852"/>
            <a:ext cx="4608513" cy="3842155"/>
          </a:xfrm>
          <a:prstGeom prst="roundRect">
            <a:avLst>
              <a:gd name="adj" fmla="val 7617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FD893D5-8CB5-3E29-008C-CC0E0591AE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5" name="Текст 6">
            <a:extLst>
              <a:ext uri="{FF2B5EF4-FFF2-40B4-BE49-F238E27FC236}">
                <a16:creationId xmlns:a16="http://schemas.microsoft.com/office/drawing/2014/main" id="{6E126262-C015-9DD6-F87F-1B632AE7449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08171" y="1153886"/>
            <a:ext cx="2532743" cy="3425371"/>
          </a:xfrm>
        </p:spPr>
        <p:txBody>
          <a:bodyPr>
            <a:normAutofit/>
          </a:bodyPr>
          <a:lstStyle>
            <a:lvl1pPr marL="0" indent="0">
              <a:buNone/>
              <a:defRPr sz="140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400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4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4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</p:spTree>
    <p:extLst>
      <p:ext uri="{BB962C8B-B14F-4D97-AF65-F5344CB8AC3E}">
        <p14:creationId xmlns:p14="http://schemas.microsoft.com/office/powerpoint/2010/main" val="17363212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AA1A601-605F-FFE8-0BFA-9EB221F44B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E555EF72-8579-6966-364E-7EB76150977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102428" y="943208"/>
            <a:ext cx="5526315" cy="3875536"/>
          </a:xfrm>
        </p:spPr>
        <p:txBody>
          <a:bodyPr>
            <a:normAutofit/>
          </a:bodyPr>
          <a:lstStyle>
            <a:lvl1pPr marL="0" indent="0">
              <a:buNone/>
              <a:defRPr sz="140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r>
              <a:rPr lang="ru-RU" sz="14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</p:txBody>
      </p:sp>
      <p:sp>
        <p:nvSpPr>
          <p:cNvPr id="6" name="Рисунок 2">
            <a:extLst>
              <a:ext uri="{FF2B5EF4-FFF2-40B4-BE49-F238E27FC236}">
                <a16:creationId xmlns:a16="http://schemas.microsoft.com/office/drawing/2014/main" id="{E0DDF7E5-74E5-85B7-0EAB-6118F548A98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7200" y="943208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8" name="Рисунок 2">
            <a:extLst>
              <a:ext uri="{FF2B5EF4-FFF2-40B4-BE49-F238E27FC236}">
                <a16:creationId xmlns:a16="http://schemas.microsoft.com/office/drawing/2014/main" id="{7936B987-FE27-33B7-4612-FDB9F2B35C6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57200" y="2935720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8552863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6">
            <a:extLst>
              <a:ext uri="{FF2B5EF4-FFF2-40B4-BE49-F238E27FC236}">
                <a16:creationId xmlns:a16="http://schemas.microsoft.com/office/drawing/2014/main" id="{604BBFFB-7572-35FA-4787-0F445C56328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1" y="1059322"/>
            <a:ext cx="3897086" cy="1734678"/>
          </a:xfrm>
        </p:spPr>
        <p:txBody>
          <a:bodyPr>
            <a:normAutofit/>
          </a:bodyPr>
          <a:lstStyle>
            <a:lvl1pPr marL="0" indent="0">
              <a:buNone/>
              <a:defRPr sz="1400" baseline="0">
                <a:solidFill>
                  <a:schemeClr val="bg1"/>
                </a:solidFill>
              </a:defRPr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r>
              <a:rPr lang="ru-RU" sz="1400" dirty="0">
                <a:latin typeface="Golos Text" panose="020B0503020202020204"/>
              </a:rPr>
              <a:t>Основной текст слайда, ключевая формулировка.</a:t>
            </a:r>
          </a:p>
        </p:txBody>
      </p:sp>
      <p:sp>
        <p:nvSpPr>
          <p:cNvPr id="4" name="Текст 6">
            <a:extLst>
              <a:ext uri="{FF2B5EF4-FFF2-40B4-BE49-F238E27FC236}">
                <a16:creationId xmlns:a16="http://schemas.microsoft.com/office/drawing/2014/main" id="{4BFD2DD0-1A50-CC19-1239-4EE4F12EA91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202" y="3105836"/>
            <a:ext cx="3897084" cy="1640335"/>
          </a:xfrm>
        </p:spPr>
        <p:txBody>
          <a:bodyPr>
            <a:normAutofit/>
          </a:bodyPr>
          <a:lstStyle>
            <a:lvl1pPr marL="0" indent="0">
              <a:buNone/>
              <a:defRPr sz="1400" baseline="0">
                <a:solidFill>
                  <a:schemeClr val="bg1"/>
                </a:solidFill>
              </a:defRPr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r>
              <a:rPr lang="ru-RU" sz="1400" dirty="0">
                <a:latin typeface="Golos Text" panose="020B0503020202020204"/>
              </a:rPr>
              <a:t>Основной текст слайда, ключевая формулировка.</a:t>
            </a:r>
          </a:p>
        </p:txBody>
      </p:sp>
      <p:sp>
        <p:nvSpPr>
          <p:cNvPr id="5" name="Текст 6">
            <a:extLst>
              <a:ext uri="{FF2B5EF4-FFF2-40B4-BE49-F238E27FC236}">
                <a16:creationId xmlns:a16="http://schemas.microsoft.com/office/drawing/2014/main" id="{73A9D63A-5180-ED0A-F619-007A1570C1E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89714" y="1059322"/>
            <a:ext cx="3632201" cy="3686849"/>
          </a:xfrm>
        </p:spPr>
        <p:txBody>
          <a:bodyPr>
            <a:normAutofit/>
          </a:bodyPr>
          <a:lstStyle>
            <a:lvl1pPr marL="0" indent="0">
              <a:buNone/>
              <a:defRPr sz="1400" baseline="0">
                <a:solidFill>
                  <a:schemeClr val="bg1"/>
                </a:solidFill>
              </a:defRPr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r>
              <a:rPr lang="ru-RU" sz="1400" dirty="0">
                <a:latin typeface="Golos Text" panose="020B0503020202020204"/>
              </a:rPr>
              <a:t>Основной текст слайда, ключевая формулировка.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075CB2-AC7B-1521-E0C8-0618DBE0FE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735917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24"/>
          <p:cNvSpPr>
            <a:spLocks noGrp="1"/>
          </p:cNvSpPr>
          <p:nvPr>
            <p:ph type="body" sz="quarter" idx="20" hasCustomPrompt="1"/>
          </p:nvPr>
        </p:nvSpPr>
        <p:spPr>
          <a:xfrm>
            <a:off x="457201" y="2933902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4" name="Text Placeholder 24"/>
          <p:cNvSpPr>
            <a:spLocks noGrp="1"/>
          </p:cNvSpPr>
          <p:nvPr>
            <p:ph type="body" sz="quarter" idx="21" hasCustomPrompt="1"/>
          </p:nvPr>
        </p:nvSpPr>
        <p:spPr>
          <a:xfrm>
            <a:off x="3209454" y="2933902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5" name="Text Placeholder 24"/>
          <p:cNvSpPr>
            <a:spLocks noGrp="1"/>
          </p:cNvSpPr>
          <p:nvPr>
            <p:ph type="body" sz="quarter" idx="22" hasCustomPrompt="1"/>
          </p:nvPr>
        </p:nvSpPr>
        <p:spPr>
          <a:xfrm>
            <a:off x="5969804" y="2933902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9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7200" y="3287828"/>
            <a:ext cx="2588883" cy="1395548"/>
          </a:xfrm>
        </p:spPr>
        <p:txBody>
          <a:bodyPr>
            <a:normAutofit/>
          </a:bodyPr>
          <a:lstStyle>
            <a:lvl1pPr marL="0" indent="0">
              <a:buNone/>
              <a:defRPr sz="1200" baseline="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0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3207251" y="3299578"/>
            <a:ext cx="2591416" cy="1395548"/>
          </a:xfrm>
        </p:spPr>
        <p:txBody>
          <a:bodyPr>
            <a:noAutofit/>
          </a:bodyPr>
          <a:lstStyle>
            <a:lvl1pPr marL="0" indent="0">
              <a:buNone/>
              <a:defRPr sz="1200" baseline="0"/>
            </a:lvl1pPr>
            <a:lvl2pPr>
              <a:defRPr sz="1200" baseline="0"/>
            </a:lvl2pPr>
            <a:lvl3pPr>
              <a:defRPr sz="1200" baseline="0"/>
            </a:lvl3pPr>
            <a:lvl4pPr>
              <a:defRPr sz="1200" baseline="0"/>
            </a:lvl4pPr>
            <a:lvl5pPr>
              <a:defRPr sz="12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84827D-CE53-9591-037D-C963F1C740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5AE50A46-F4A6-68CE-7C12-AA2301388718}"/>
              </a:ext>
            </a:extLst>
          </p:cNvPr>
          <p:cNvSpPr>
            <a:spLocks noGrp="1"/>
          </p:cNvSpPr>
          <p:nvPr>
            <p:ph sz="half" idx="26" hasCustomPrompt="1"/>
          </p:nvPr>
        </p:nvSpPr>
        <p:spPr>
          <a:xfrm>
            <a:off x="5967600" y="3299578"/>
            <a:ext cx="2591416" cy="1395548"/>
          </a:xfrm>
        </p:spPr>
        <p:txBody>
          <a:bodyPr>
            <a:noAutofit/>
          </a:bodyPr>
          <a:lstStyle>
            <a:lvl1pPr marL="0" indent="0">
              <a:buNone/>
              <a:defRPr sz="1200" baseline="0"/>
            </a:lvl1pPr>
            <a:lvl2pPr>
              <a:defRPr sz="1200" baseline="0"/>
            </a:lvl2pPr>
            <a:lvl3pPr>
              <a:defRPr sz="1200" baseline="0"/>
            </a:lvl3pPr>
            <a:lvl4pPr>
              <a:defRPr sz="1200" baseline="0"/>
            </a:lvl4pPr>
            <a:lvl5pPr>
              <a:defRPr sz="12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1" name="Рисунок 2">
            <a:extLst>
              <a:ext uri="{FF2B5EF4-FFF2-40B4-BE49-F238E27FC236}">
                <a16:creationId xmlns:a16="http://schemas.microsoft.com/office/drawing/2014/main" id="{42AB405F-D2C7-9CD0-F8A2-C5B08DACE9F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69081" y="944463"/>
            <a:ext cx="2577001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2" name="Рисунок 2">
            <a:extLst>
              <a:ext uri="{FF2B5EF4-FFF2-40B4-BE49-F238E27FC236}">
                <a16:creationId xmlns:a16="http://schemas.microsoft.com/office/drawing/2014/main" id="{20D20C24-934F-4A5C-CF04-B479AF2D0D5F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3221666" y="944462"/>
            <a:ext cx="2577001" cy="1883023"/>
          </a:xfrm>
          <a:prstGeom prst="roundRect">
            <a:avLst>
              <a:gd name="adj" fmla="val 12905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6" name="Рисунок 2">
            <a:extLst>
              <a:ext uri="{FF2B5EF4-FFF2-40B4-BE49-F238E27FC236}">
                <a16:creationId xmlns:a16="http://schemas.microsoft.com/office/drawing/2014/main" id="{2D750E3A-97C5-5CBE-A3C9-0F2565E569EE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5980690" y="944463"/>
            <a:ext cx="2577001" cy="1883023"/>
          </a:xfrm>
          <a:prstGeom prst="roundRect">
            <a:avLst>
              <a:gd name="adj" fmla="val 10512"/>
            </a:avLst>
          </a:prstGeo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7384253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AA1A601-605F-FFE8-0BFA-9EB221F44B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E555EF72-8579-6966-364E-7EB76150977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733143" y="949330"/>
            <a:ext cx="2895600" cy="3895724"/>
          </a:xfrm>
        </p:spPr>
        <p:txBody>
          <a:bodyPr>
            <a:normAutofit/>
          </a:bodyPr>
          <a:lstStyle>
            <a:lvl1pPr marL="0" indent="0">
              <a:buNone/>
              <a:defRPr sz="1400" b="0" i="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4" name="Рисунок 2">
            <a:extLst>
              <a:ext uri="{FF2B5EF4-FFF2-40B4-BE49-F238E27FC236}">
                <a16:creationId xmlns:a16="http://schemas.microsoft.com/office/drawing/2014/main" id="{F1233E17-1183-B76E-8FDC-B4E51177D94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7200" y="949329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8" name="Рисунок 2">
            <a:extLst>
              <a:ext uri="{FF2B5EF4-FFF2-40B4-BE49-F238E27FC236}">
                <a16:creationId xmlns:a16="http://schemas.microsoft.com/office/drawing/2014/main" id="{D225B0AE-7C4E-EA08-3FB1-DC344CD7244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095171" y="949328"/>
            <a:ext cx="2532744" cy="1883023"/>
          </a:xfrm>
          <a:prstGeom prst="roundRect">
            <a:avLst>
              <a:gd name="adj" fmla="val 11879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0" name="Рисунок 2">
            <a:extLst>
              <a:ext uri="{FF2B5EF4-FFF2-40B4-BE49-F238E27FC236}">
                <a16:creationId xmlns:a16="http://schemas.microsoft.com/office/drawing/2014/main" id="{8F0CB042-A157-2892-A9F3-8F41034FBC2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095171" y="2962031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1" name="Рисунок 2">
            <a:extLst>
              <a:ext uri="{FF2B5EF4-FFF2-40B4-BE49-F238E27FC236}">
                <a16:creationId xmlns:a16="http://schemas.microsoft.com/office/drawing/2014/main" id="{B7890194-FBA6-DE42-AD42-307D6F999BEF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57199" y="2962031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464274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AA1A601-605F-FFE8-0BFA-9EB221F44B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Текст 6">
            <a:extLst>
              <a:ext uri="{FF2B5EF4-FFF2-40B4-BE49-F238E27FC236}">
                <a16:creationId xmlns:a16="http://schemas.microsoft.com/office/drawing/2014/main" id="{46AE54EB-260E-9A56-307F-307DC6AE327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1" y="963397"/>
            <a:ext cx="2532744" cy="1883023"/>
          </a:xfrm>
        </p:spPr>
        <p:txBody>
          <a:bodyPr>
            <a:normAutofit/>
          </a:bodyPr>
          <a:lstStyle>
            <a:lvl1pPr marL="0" indent="0">
              <a:buNone/>
              <a:defRPr sz="1800" b="1" i="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pPr lvl="0"/>
            <a:r>
              <a:rPr lang="ru-RU" dirty="0"/>
              <a:t>Ключевая фраза слайда</a:t>
            </a:r>
          </a:p>
        </p:txBody>
      </p:sp>
      <p:sp>
        <p:nvSpPr>
          <p:cNvPr id="7" name="Рисунок 2">
            <a:extLst>
              <a:ext uri="{FF2B5EF4-FFF2-40B4-BE49-F238E27FC236}">
                <a16:creationId xmlns:a16="http://schemas.microsoft.com/office/drawing/2014/main" id="{20DDEE97-30A5-E948-6E23-28FB2BCF96FD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095171" y="963397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0" name="Рисунок 2">
            <a:extLst>
              <a:ext uri="{FF2B5EF4-FFF2-40B4-BE49-F238E27FC236}">
                <a16:creationId xmlns:a16="http://schemas.microsoft.com/office/drawing/2014/main" id="{AAC08422-7D47-2B7E-7D28-680BC07B364D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733141" y="966928"/>
            <a:ext cx="2532744" cy="1883023"/>
          </a:xfrm>
          <a:prstGeom prst="roundRect">
            <a:avLst>
              <a:gd name="adj" fmla="val 11196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1" name="Рисунок 2">
            <a:extLst>
              <a:ext uri="{FF2B5EF4-FFF2-40B4-BE49-F238E27FC236}">
                <a16:creationId xmlns:a16="http://schemas.microsoft.com/office/drawing/2014/main" id="{4D0F3CB7-1C07-A606-10E8-3541ED42DF3F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5733141" y="2954042"/>
            <a:ext cx="2532744" cy="1883023"/>
          </a:xfrm>
          <a:prstGeom prst="roundRect">
            <a:avLst>
              <a:gd name="adj" fmla="val 8802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2" name="Рисунок 2">
            <a:extLst>
              <a:ext uri="{FF2B5EF4-FFF2-40B4-BE49-F238E27FC236}">
                <a16:creationId xmlns:a16="http://schemas.microsoft.com/office/drawing/2014/main" id="{AFE5227E-AF6F-5CD4-3762-3B690A4EFAC6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3095171" y="2960314"/>
            <a:ext cx="2532744" cy="1883023"/>
          </a:xfrm>
          <a:prstGeom prst="roundRect">
            <a:avLst>
              <a:gd name="adj" fmla="val 8459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3" name="Рисунок 2">
            <a:extLst>
              <a:ext uri="{FF2B5EF4-FFF2-40B4-BE49-F238E27FC236}">
                <a16:creationId xmlns:a16="http://schemas.microsoft.com/office/drawing/2014/main" id="{F1DACFFD-7F12-BA1F-C994-00039280C0A0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57200" y="2960314"/>
            <a:ext cx="2532744" cy="1883023"/>
          </a:xfrm>
          <a:prstGeom prst="roundRect">
            <a:avLst>
              <a:gd name="adj" fmla="val 10169"/>
            </a:avLst>
          </a:prstGeo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3181888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/>
          <p:cNvSpPr>
            <a:spLocks noGrp="1"/>
          </p:cNvSpPr>
          <p:nvPr>
            <p:ph type="body" sz="quarter" idx="20" hasCustomPrompt="1"/>
          </p:nvPr>
        </p:nvSpPr>
        <p:spPr>
          <a:xfrm>
            <a:off x="457201" y="2367645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6" name="Text Placeholder 24"/>
          <p:cNvSpPr>
            <a:spLocks noGrp="1"/>
          </p:cNvSpPr>
          <p:nvPr>
            <p:ph type="body" sz="quarter" idx="21" hasCustomPrompt="1"/>
          </p:nvPr>
        </p:nvSpPr>
        <p:spPr>
          <a:xfrm>
            <a:off x="3275819" y="2367645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7" name="Text Placeholder 24"/>
          <p:cNvSpPr>
            <a:spLocks noGrp="1"/>
          </p:cNvSpPr>
          <p:nvPr>
            <p:ph type="body" sz="quarter" idx="22" hasCustomPrompt="1"/>
          </p:nvPr>
        </p:nvSpPr>
        <p:spPr>
          <a:xfrm>
            <a:off x="6085706" y="2367645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F822C9-93DB-8981-8DE8-9669C842C9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11" name="Рисунок 2">
            <a:extLst>
              <a:ext uri="{FF2B5EF4-FFF2-40B4-BE49-F238E27FC236}">
                <a16:creationId xmlns:a16="http://schemas.microsoft.com/office/drawing/2014/main" id="{ABC6181E-5380-5398-36BA-70EAD01E6B61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454050" y="952607"/>
            <a:ext cx="2589213" cy="1304294"/>
          </a:xfrm>
          <a:prstGeom prst="roundRect">
            <a:avLst>
              <a:gd name="adj" fmla="val 9261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Изображение</a:t>
            </a:r>
          </a:p>
        </p:txBody>
      </p:sp>
      <p:sp>
        <p:nvSpPr>
          <p:cNvPr id="12" name="Рисунок 2">
            <a:extLst>
              <a:ext uri="{FF2B5EF4-FFF2-40B4-BE49-F238E27FC236}">
                <a16:creationId xmlns:a16="http://schemas.microsoft.com/office/drawing/2014/main" id="{6C8F21F1-75B3-D8F1-2DB5-6F70F86F1DBF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3275818" y="952607"/>
            <a:ext cx="2589213" cy="1304294"/>
          </a:xfrm>
          <a:prstGeom prst="roundRect">
            <a:avLst>
              <a:gd name="adj" fmla="val 11730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Изображение</a:t>
            </a:r>
          </a:p>
        </p:txBody>
      </p:sp>
      <p:sp>
        <p:nvSpPr>
          <p:cNvPr id="13" name="Рисунок 2">
            <a:extLst>
              <a:ext uri="{FF2B5EF4-FFF2-40B4-BE49-F238E27FC236}">
                <a16:creationId xmlns:a16="http://schemas.microsoft.com/office/drawing/2014/main" id="{276AF22E-2A7E-F9AB-5142-9D689D32BAC7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6089789" y="952607"/>
            <a:ext cx="2589213" cy="1304294"/>
          </a:xfrm>
          <a:prstGeom prst="roundRect">
            <a:avLst>
              <a:gd name="adj" fmla="val 10249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Изображение</a:t>
            </a:r>
          </a:p>
        </p:txBody>
      </p:sp>
      <p:sp>
        <p:nvSpPr>
          <p:cNvPr id="14" name="Text Placeholder 24">
            <a:extLst>
              <a:ext uri="{FF2B5EF4-FFF2-40B4-BE49-F238E27FC236}">
                <a16:creationId xmlns:a16="http://schemas.microsoft.com/office/drawing/2014/main" id="{4381B90F-578B-03FE-3E62-01B123DDCA0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60352" y="4281396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5" name="Text Placeholder 24">
            <a:extLst>
              <a:ext uri="{FF2B5EF4-FFF2-40B4-BE49-F238E27FC236}">
                <a16:creationId xmlns:a16="http://schemas.microsoft.com/office/drawing/2014/main" id="{78F39546-2C38-A484-9527-E82840466A9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278970" y="4281396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7" name="Text Placeholder 24">
            <a:extLst>
              <a:ext uri="{FF2B5EF4-FFF2-40B4-BE49-F238E27FC236}">
                <a16:creationId xmlns:a16="http://schemas.microsoft.com/office/drawing/2014/main" id="{62CF135A-DC57-BFA7-737D-7E89CABB270B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088857" y="4281396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3" name="Рисунок 2">
            <a:extLst>
              <a:ext uri="{FF2B5EF4-FFF2-40B4-BE49-F238E27FC236}">
                <a16:creationId xmlns:a16="http://schemas.microsoft.com/office/drawing/2014/main" id="{F2DF9285-C300-85F5-A106-92A286165DE1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457201" y="2866358"/>
            <a:ext cx="2589213" cy="1304294"/>
          </a:xfrm>
          <a:prstGeom prst="roundRect">
            <a:avLst>
              <a:gd name="adj" fmla="val 12224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Изображение</a:t>
            </a:r>
          </a:p>
        </p:txBody>
      </p:sp>
      <p:sp>
        <p:nvSpPr>
          <p:cNvPr id="24" name="Рисунок 2">
            <a:extLst>
              <a:ext uri="{FF2B5EF4-FFF2-40B4-BE49-F238E27FC236}">
                <a16:creationId xmlns:a16="http://schemas.microsoft.com/office/drawing/2014/main" id="{3E7EB42F-DA19-C666-2E68-46C62D129469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3278969" y="2866358"/>
            <a:ext cx="2589213" cy="1304294"/>
          </a:xfrm>
          <a:prstGeom prst="roundRect">
            <a:avLst>
              <a:gd name="adj" fmla="val 11236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Изображение</a:t>
            </a:r>
          </a:p>
        </p:txBody>
      </p:sp>
      <p:sp>
        <p:nvSpPr>
          <p:cNvPr id="31" name="Рисунок 2">
            <a:extLst>
              <a:ext uri="{FF2B5EF4-FFF2-40B4-BE49-F238E27FC236}">
                <a16:creationId xmlns:a16="http://schemas.microsoft.com/office/drawing/2014/main" id="{8819B960-AE2A-9E43-B370-CD1D6A1ACE8D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6092940" y="2866358"/>
            <a:ext cx="2589213" cy="1304294"/>
          </a:xfrm>
          <a:prstGeom prst="roundRect">
            <a:avLst>
              <a:gd name="adj" fmla="val 9755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Изображение</a:t>
            </a:r>
          </a:p>
        </p:txBody>
      </p:sp>
    </p:spTree>
    <p:extLst>
      <p:ext uri="{BB962C8B-B14F-4D97-AF65-F5344CB8AC3E}">
        <p14:creationId xmlns:p14="http://schemas.microsoft.com/office/powerpoint/2010/main" val="71863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06434"/>
            <a:ext cx="8229600" cy="6204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21912"/>
            <a:ext cx="8229600" cy="289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-865051" y="413412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4D3E97-5D7A-1D29-BA55-742D76C1C8C4}"/>
              </a:ext>
            </a:extLst>
          </p:cNvPr>
          <p:cNvSpPr txBox="1"/>
          <p:nvPr userDrawn="1"/>
        </p:nvSpPr>
        <p:spPr>
          <a:xfrm>
            <a:off x="-865051" y="413412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6783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8" r:id="rId1"/>
    <p:sldLayoutId id="2147483872" r:id="rId2"/>
    <p:sldLayoutId id="2147483885" r:id="rId3"/>
    <p:sldLayoutId id="2147483877" r:id="rId4"/>
    <p:sldLayoutId id="2147483891" r:id="rId5"/>
    <p:sldLayoutId id="2147483883" r:id="rId6"/>
    <p:sldLayoutId id="2147483873" r:id="rId7"/>
    <p:sldLayoutId id="2147483888" r:id="rId8"/>
    <p:sldLayoutId id="2147483892" r:id="rId9"/>
    <p:sldLayoutId id="2147483874" r:id="rId10"/>
    <p:sldLayoutId id="2147483886" r:id="rId11"/>
    <p:sldLayoutId id="2147483889" r:id="rId12"/>
    <p:sldLayoutId id="2147483893" r:id="rId13"/>
    <p:sldLayoutId id="2147483879" r:id="rId14"/>
    <p:sldLayoutId id="2147483887" r:id="rId15"/>
    <p:sldLayoutId id="2147483890" r:id="rId16"/>
    <p:sldLayoutId id="2147483880" r:id="rId17"/>
    <p:sldLayoutId id="2147483894" r:id="rId18"/>
    <p:sldLayoutId id="2147483875" r:id="rId19"/>
    <p:sldLayoutId id="2147483881" r:id="rId20"/>
    <p:sldLayoutId id="2147483882" r:id="rId21"/>
    <p:sldLayoutId id="2147483706" r:id="rId22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b="1" i="0" kern="1200" baseline="0">
          <a:solidFill>
            <a:schemeClr val="tx1"/>
          </a:solidFill>
          <a:latin typeface="ALS Gorizont Bold Expanded" panose="00000805000000000000" pitchFamily="50" charset="0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spcBef>
          <a:spcPct val="20000"/>
        </a:spcBef>
        <a:buSzPct val="100000"/>
        <a:buFont typeface="Arial" panose="020B0604020202020204" pitchFamily="34" charset="0"/>
        <a:buNone/>
        <a:defRPr sz="2000" kern="1200">
          <a:solidFill>
            <a:schemeClr val="tx1"/>
          </a:solidFill>
          <a:latin typeface="Golos Text" panose="020B0503020202020204" pitchFamily="34" charset="-52"/>
          <a:ea typeface="+mn-ea"/>
          <a:cs typeface="Golos Text" panose="020B0503020202020204" pitchFamily="34" charset="-52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Golos Text" panose="020B0503020202020204" pitchFamily="34" charset="-52"/>
          <a:ea typeface="+mn-ea"/>
          <a:cs typeface="Golos Text" panose="020B0503020202020204" pitchFamily="34" charset="-52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Golos Text" panose="020B0503020202020204" pitchFamily="34" charset="-52"/>
          <a:ea typeface="+mn-ea"/>
          <a:cs typeface="Golos Text" panose="020B0503020202020204" pitchFamily="34" charset="-52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Golos Text" panose="020B0503020202020204" pitchFamily="34" charset="-52"/>
          <a:ea typeface="+mn-ea"/>
          <a:cs typeface="Golos Text" panose="020B0503020202020204" pitchFamily="34" charset="-52"/>
        </a:defRPr>
      </a:lvl4pPr>
      <a:lvl5pPr marL="1828800" indent="0" algn="l" defTabSz="457200" rtl="0" eaLnBrk="1" latinLnBrk="0" hangingPunct="1">
        <a:spcBef>
          <a:spcPct val="200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Golos Text" panose="020B0503020202020204" pitchFamily="34" charset="-52"/>
          <a:ea typeface="+mn-ea"/>
          <a:cs typeface="Golos Text" panose="020B0503020202020204" pitchFamily="34" charset="-52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tif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tif"/><Relationship Id="rId1" Type="http://schemas.openxmlformats.org/officeDocument/2006/relationships/slideLayout" Target="../slideLayouts/slideLayout1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tif"/><Relationship Id="rId1" Type="http://schemas.openxmlformats.org/officeDocument/2006/relationships/slideLayout" Target="../slideLayouts/slideLayout19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tif"/><Relationship Id="rId1" Type="http://schemas.openxmlformats.org/officeDocument/2006/relationships/slideLayout" Target="../slideLayouts/slideLayout2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tif"/><Relationship Id="rId1" Type="http://schemas.openxmlformats.org/officeDocument/2006/relationships/slideLayout" Target="../slideLayouts/slideLayout2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1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jp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jpg"/><Relationship Id="rId4" Type="http://schemas.openxmlformats.org/officeDocument/2006/relationships/image" Target="../media/image30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856227" y="2219325"/>
            <a:ext cx="7431543" cy="704850"/>
          </a:xfrm>
        </p:spPr>
        <p:txBody>
          <a:bodyPr>
            <a:noAutofit/>
          </a:bodyPr>
          <a:lstStyle/>
          <a:p>
            <a:pPr algn="ctr"/>
            <a:r>
              <a:rPr lang="ru-RU" sz="2400" dirty="0">
                <a:solidFill>
                  <a:schemeClr val="bg1"/>
                </a:solidFill>
              </a:rPr>
              <a:t>Реинжиниринг сервиса интеграции автомобильных объявлений для повышения отказоустойчивости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2" name="Google Shape;137;p1">
            <a:extLst>
              <a:ext uri="{FF2B5EF4-FFF2-40B4-BE49-F238E27FC236}">
                <a16:creationId xmlns:a16="http://schemas.microsoft.com/office/drawing/2014/main" id="{263E487F-1E30-5E5F-3968-448A6B130DA3}"/>
              </a:ext>
            </a:extLst>
          </p:cNvPr>
          <p:cNvSpPr txBox="1">
            <a:spLocks/>
          </p:cNvSpPr>
          <p:nvPr/>
        </p:nvSpPr>
        <p:spPr>
          <a:xfrm>
            <a:off x="676799" y="3260491"/>
            <a:ext cx="7790400" cy="705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b="1" i="0" kern="1200" baseline="0">
                <a:solidFill>
                  <a:schemeClr val="tx1"/>
                </a:solidFill>
                <a:latin typeface="Golos Text DemiBold" panose="020B0703020202020204" pitchFamily="34" charset="-52"/>
                <a:ea typeface="+mj-ea"/>
                <a:cs typeface="+mj-cs"/>
              </a:defRPr>
            </a:lvl1pPr>
          </a:lstStyle>
          <a:p>
            <a:pPr algn="ctr">
              <a:spcBef>
                <a:spcPts val="0"/>
              </a:spcBef>
              <a:buClr>
                <a:schemeClr val="lt1"/>
              </a:buClr>
              <a:buSzPts val="4400"/>
              <a:buFont typeface="Golos Text SemiBold"/>
              <a:buNone/>
            </a:pPr>
            <a:r>
              <a:rPr lang="ru-RU" sz="1600" b="0" dirty="0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rPr>
              <a:t>Студент: Сиразетдинов Азат Ниязович, </a:t>
            </a:r>
            <a:r>
              <a:rPr lang="en-US" sz="1600" b="0" dirty="0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rPr>
              <a:t>P3416</a:t>
            </a:r>
          </a:p>
          <a:p>
            <a:pPr algn="ctr">
              <a:spcBef>
                <a:spcPts val="0"/>
              </a:spcBef>
              <a:buClr>
                <a:schemeClr val="lt1"/>
              </a:buClr>
              <a:buSzPts val="4400"/>
              <a:buFont typeface="Golos Text SemiBold"/>
              <a:buNone/>
            </a:pPr>
            <a:r>
              <a:rPr lang="ru-RU" sz="1600" b="0" dirty="0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rPr>
              <a:t>Руководитель: Логинов Иван Павлович</a:t>
            </a:r>
          </a:p>
        </p:txBody>
      </p:sp>
    </p:spTree>
    <p:extLst>
      <p:ext uri="{BB962C8B-B14F-4D97-AF65-F5344CB8AC3E}">
        <p14:creationId xmlns:p14="http://schemas.microsoft.com/office/powerpoint/2010/main" val="871725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F05AD3-DD35-D766-46C3-0C857DD336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9096DBC-269F-A112-754C-6714426553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Актуальность темы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18A172E-FD1A-55E1-7CFC-B6650E8C79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211943"/>
            <a:ext cx="7541812" cy="3423667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Более 90</a:t>
            </a:r>
            <a:r>
              <a:rPr lang="en-US" sz="18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% </a:t>
            </a:r>
            <a:r>
              <a:rPr lang="ru-RU" sz="18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автомобилей, продаваемых дилерскими </a:t>
            </a:r>
            <a:r>
              <a:rPr lang="ru-RU" sz="1800" b="0" i="0" dirty="0" err="1">
                <a:solidFill>
                  <a:srgbClr val="2C2D2E"/>
                </a:solidFill>
                <a:effectLst/>
                <a:latin typeface="Golos Text" panose="020B0503020202020204"/>
              </a:rPr>
              <a:t>агенствами</a:t>
            </a:r>
            <a:r>
              <a:rPr lang="ru-RU" sz="18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на </a:t>
            </a:r>
            <a:r>
              <a:rPr lang="ru-RU" sz="1800" b="0" i="0" dirty="0" err="1">
                <a:solidFill>
                  <a:srgbClr val="2C2D2E"/>
                </a:solidFill>
                <a:effectLst/>
                <a:latin typeface="Golos Text" panose="020B0503020202020204"/>
              </a:rPr>
              <a:t>Авто.ру</a:t>
            </a:r>
            <a:r>
              <a:rPr lang="ru-RU" sz="1800" dirty="0">
                <a:solidFill>
                  <a:srgbClr val="2C2D2E"/>
                </a:solidFill>
                <a:latin typeface="Golos Text" panose="020B0503020202020204"/>
              </a:rPr>
              <a:t>, загружаются с помощью </a:t>
            </a:r>
            <a:r>
              <a:rPr lang="en-US" sz="1800" dirty="0">
                <a:solidFill>
                  <a:srgbClr val="2C2D2E"/>
                </a:solidFill>
                <a:latin typeface="Golos Text" panose="020B0503020202020204"/>
              </a:rPr>
              <a:t>XML-</a:t>
            </a:r>
            <a:r>
              <a:rPr lang="ru-RU" sz="1800" dirty="0" err="1">
                <a:solidFill>
                  <a:srgbClr val="2C2D2E"/>
                </a:solidFill>
                <a:latin typeface="Golos Text" panose="020B0503020202020204"/>
              </a:rPr>
              <a:t>фидов</a:t>
            </a:r>
            <a:r>
              <a:rPr lang="ru-RU" sz="1800" dirty="0">
                <a:solidFill>
                  <a:srgbClr val="2C2D2E"/>
                </a:solidFill>
                <a:latin typeface="Golos Text" panose="020B0503020202020204"/>
              </a:rPr>
              <a:t>. Сервис интеграции данных должен обрабатывать большую нагрузку по обработке изменений объявлений (более 2 миллионов автомобилей в сутки)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Те</a:t>
            </a:r>
            <a:r>
              <a:rPr lang="ru-RU" sz="1800" dirty="0">
                <a:solidFill>
                  <a:srgbClr val="2C2D2E"/>
                </a:solidFill>
                <a:latin typeface="Golos Text" panose="020B0503020202020204"/>
              </a:rPr>
              <a:t>к</a:t>
            </a:r>
            <a:r>
              <a:rPr lang="ru-RU" sz="18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ущая реализация ненадежна и</a:t>
            </a:r>
            <a:r>
              <a:rPr lang="en-US" sz="1800" dirty="0">
                <a:solidFill>
                  <a:srgbClr val="2C2D2E"/>
                </a:solidFill>
                <a:latin typeface="Golos Text" panose="020B0503020202020204"/>
              </a:rPr>
              <a:t>,</a:t>
            </a:r>
            <a:r>
              <a:rPr lang="ru-RU" sz="18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как показали учения</a:t>
            </a:r>
            <a:r>
              <a:rPr lang="en-US" sz="1800" dirty="0">
                <a:solidFill>
                  <a:srgbClr val="2C2D2E"/>
                </a:solidFill>
                <a:latin typeface="Golos Text" panose="020B0503020202020204"/>
              </a:rPr>
              <a:t>, </a:t>
            </a:r>
            <a:r>
              <a:rPr lang="ru-RU" sz="1800" dirty="0">
                <a:solidFill>
                  <a:srgbClr val="2C2D2E"/>
                </a:solidFill>
                <a:latin typeface="Golos Text" panose="020B0503020202020204"/>
              </a:rPr>
              <a:t>при потере инстансов в </a:t>
            </a:r>
            <a:r>
              <a:rPr lang="ru-RU" sz="1800" dirty="0" err="1">
                <a:solidFill>
                  <a:srgbClr val="2C2D2E"/>
                </a:solidFill>
                <a:latin typeface="Golos Text" panose="020B0503020202020204"/>
              </a:rPr>
              <a:t>датацентре</a:t>
            </a:r>
            <a:r>
              <a:rPr lang="ru-RU" sz="1800" dirty="0">
                <a:solidFill>
                  <a:srgbClr val="2C2D2E"/>
                </a:solidFill>
                <a:latin typeface="Golos Text" panose="020B0503020202020204"/>
              </a:rPr>
              <a:t> теряются </a:t>
            </a:r>
            <a:r>
              <a:rPr lang="ru-RU" sz="1800" dirty="0" err="1">
                <a:solidFill>
                  <a:srgbClr val="2C2D2E"/>
                </a:solidFill>
                <a:latin typeface="Golos Text" panose="020B0503020202020204"/>
              </a:rPr>
              <a:t>фиды</a:t>
            </a:r>
            <a:r>
              <a:rPr lang="ru-RU" sz="1800" dirty="0">
                <a:solidFill>
                  <a:srgbClr val="2C2D2E"/>
                </a:solidFill>
                <a:latin typeface="Golos Text" panose="020B0503020202020204"/>
              </a:rPr>
              <a:t> из обработки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b="0" i="0" dirty="0" err="1">
                <a:solidFill>
                  <a:srgbClr val="2C2D2E"/>
                </a:solidFill>
                <a:effectLst/>
                <a:latin typeface="Golos Text" panose="020B0503020202020204"/>
              </a:rPr>
              <a:t>Оркестрация</a:t>
            </a:r>
            <a:r>
              <a:rPr lang="ru-RU" sz="18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 </a:t>
            </a:r>
            <a:r>
              <a:rPr lang="ru-RU" sz="1800" dirty="0">
                <a:solidFill>
                  <a:srgbClr val="2C2D2E"/>
                </a:solidFill>
                <a:latin typeface="Golos Text" panose="020B0503020202020204"/>
              </a:rPr>
              <a:t>использованием системы </a:t>
            </a:r>
            <a:r>
              <a:rPr lang="en-US" sz="1800" dirty="0">
                <a:solidFill>
                  <a:srgbClr val="2C2D2E"/>
                </a:solidFill>
                <a:latin typeface="Golos Text" panose="020B0503020202020204"/>
              </a:rPr>
              <a:t>Temporal </a:t>
            </a:r>
            <a:r>
              <a:rPr lang="ru-RU" sz="1800" dirty="0">
                <a:solidFill>
                  <a:srgbClr val="2C2D2E"/>
                </a:solidFill>
                <a:latin typeface="Golos Text" panose="020B0503020202020204"/>
              </a:rPr>
              <a:t>набирает огромную популярность среди разработчиков</a:t>
            </a:r>
            <a:endParaRPr lang="ru-RU" sz="1800" b="0" i="0" dirty="0">
              <a:solidFill>
                <a:srgbClr val="2C2D2E"/>
              </a:solidFill>
              <a:effectLst/>
              <a:latin typeface="Golos Text" panose="020B0503020202020204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D5D032-2A3B-FC72-1FD9-859086683AE7}"/>
              </a:ext>
            </a:extLst>
          </p:cNvPr>
          <p:cNvSpPr txBox="1"/>
          <p:nvPr/>
        </p:nvSpPr>
        <p:spPr>
          <a:xfrm>
            <a:off x="8388927" y="445423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1CFCF946-3A6F-2D44-9885-12E0FDAE8C1C}" type="slidenum">
              <a:rPr lang="ru-RU" smtClean="0"/>
              <a:t>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5114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2ECE40-2AFB-33A3-6A6F-CB64ED37B2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148C0B5-6DD6-01F7-D791-67FDD4052D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Проблемы существующего решения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444DD4F-CB04-37F6-F87C-6A13B25595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211943"/>
            <a:ext cx="7541812" cy="3423667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Утечки памяти в библиотеке </a:t>
            </a:r>
            <a:r>
              <a:rPr lang="en-US" sz="1800" b="0" i="0" dirty="0" err="1">
                <a:solidFill>
                  <a:srgbClr val="2C2D2E"/>
                </a:solidFill>
                <a:effectLst/>
                <a:latin typeface="Golos Text" panose="020B0503020202020204"/>
              </a:rPr>
              <a:t>akka</a:t>
            </a:r>
            <a:endParaRPr lang="ru-RU" sz="1800" b="0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Статичное распределение задач по инстансам с помощью </a:t>
            </a:r>
            <a:r>
              <a:rPr lang="en-US" sz="18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Zookeeper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dirty="0">
                <a:solidFill>
                  <a:srgbClr val="2C2D2E"/>
                </a:solidFill>
                <a:latin typeface="Golos Text" panose="020B0503020202020204"/>
              </a:rPr>
              <a:t>К</a:t>
            </a:r>
            <a:r>
              <a:rPr lang="ru-RU" sz="18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еш в </a:t>
            </a:r>
            <a:r>
              <a:rPr lang="ru-RU" sz="1800" dirty="0">
                <a:solidFill>
                  <a:srgbClr val="2C2D2E"/>
                </a:solidFill>
                <a:latin typeface="Golos Text" panose="020B0503020202020204"/>
              </a:rPr>
              <a:t>оперативной </a:t>
            </a:r>
            <a:r>
              <a:rPr lang="ru-RU" sz="18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памяти</a:t>
            </a:r>
          </a:p>
          <a:p>
            <a:endParaRPr lang="ru-RU" sz="1800" dirty="0">
              <a:solidFill>
                <a:srgbClr val="2C2D2E"/>
              </a:solidFill>
              <a:latin typeface="Golos Text" panose="020B0503020202020204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A61525-642F-A337-2582-8FE17E6A48F0}"/>
              </a:ext>
            </a:extLst>
          </p:cNvPr>
          <p:cNvSpPr txBox="1"/>
          <p:nvPr/>
        </p:nvSpPr>
        <p:spPr>
          <a:xfrm>
            <a:off x="8388927" y="445423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1CFCF946-3A6F-2D44-9885-12E0FDAE8C1C}" type="slidenum">
              <a:rPr lang="ru-RU" smtClean="0"/>
              <a:t>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05192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F547B1-7F35-795F-FD69-BBE4A32EC8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874FB6-BA01-B8FF-53E2-F599961F0B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Цели и задачи ВКР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455AB96-E686-F176-35A9-31126817397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ru-RU" sz="1800" b="1" dirty="0">
                <a:solidFill>
                  <a:srgbClr val="2C2D2E"/>
                </a:solidFill>
                <a:latin typeface="Golos Text" panose="020B0503020202020204"/>
              </a:rPr>
              <a:t>Цель: </a:t>
            </a:r>
            <a:r>
              <a:rPr lang="ru-RU" sz="1800" dirty="0">
                <a:solidFill>
                  <a:srgbClr val="2C2D2E"/>
                </a:solidFill>
                <a:latin typeface="Golos Text" panose="020B0503020202020204"/>
              </a:rPr>
              <a:t>Повышение надежности сервиса интеграции автомобильных объявлений за счет использования системы оркестрации бизнес-процессов </a:t>
            </a:r>
            <a:r>
              <a:rPr lang="en-US" sz="1800" dirty="0">
                <a:solidFill>
                  <a:srgbClr val="2C2D2E"/>
                </a:solidFill>
                <a:latin typeface="Golos Text" panose="020B0503020202020204"/>
              </a:rPr>
              <a:t>Temporal.</a:t>
            </a:r>
            <a:endParaRPr lang="ru-RU" sz="1800" dirty="0">
              <a:solidFill>
                <a:srgbClr val="2C2D2E"/>
              </a:solidFill>
              <a:latin typeface="Golos Text" panose="020B0503020202020204"/>
            </a:endParaRPr>
          </a:p>
          <a:p>
            <a:endParaRPr lang="en-US" sz="1800" b="1" dirty="0">
              <a:solidFill>
                <a:srgbClr val="2C2D2E"/>
              </a:solidFill>
              <a:latin typeface="Golos Text" panose="020B0503020202020204"/>
            </a:endParaRPr>
          </a:p>
          <a:p>
            <a:r>
              <a:rPr lang="ru-RU" sz="1800" b="1" dirty="0">
                <a:solidFill>
                  <a:srgbClr val="2C2D2E"/>
                </a:solidFill>
                <a:latin typeface="Golos Text" panose="020B0503020202020204"/>
              </a:rPr>
              <a:t>В рамках работы необходимо: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dirty="0">
                <a:solidFill>
                  <a:srgbClr val="2C2D2E"/>
                </a:solidFill>
                <a:latin typeface="Golos Text" panose="020B0503020202020204"/>
              </a:rPr>
              <a:t>Провести анализ существующего сервиса интеграции автомобильных объявлений и выявить основные причины сбоев в его работе.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dirty="0">
                <a:solidFill>
                  <a:srgbClr val="2C2D2E"/>
                </a:solidFill>
                <a:latin typeface="Golos Text" panose="020B0503020202020204"/>
              </a:rPr>
              <a:t>Разработать архитектуру нового сервиса на основе оркестратора бизнес-процессов </a:t>
            </a:r>
            <a:r>
              <a:rPr lang="en-US" sz="1800" dirty="0">
                <a:solidFill>
                  <a:srgbClr val="2C2D2E"/>
                </a:solidFill>
                <a:latin typeface="Golos Text" panose="020B0503020202020204"/>
              </a:rPr>
              <a:t>Temporal.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dirty="0">
                <a:solidFill>
                  <a:srgbClr val="2C2D2E"/>
                </a:solidFill>
                <a:latin typeface="Golos Text" panose="020B0503020202020204"/>
              </a:rPr>
              <a:t>Разработать механизм интеграции автомобильных объявлений в рамках новой архитектуры.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dirty="0">
                <a:solidFill>
                  <a:srgbClr val="2C2D2E"/>
                </a:solidFill>
                <a:latin typeface="Golos Text" panose="020B0503020202020204"/>
              </a:rPr>
              <a:t>Провести интеграционное тестирование нового сервиса и выполнить сравнение с существующим решением на предмет соответствия функциональным требованиям.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dirty="0">
                <a:solidFill>
                  <a:srgbClr val="2C2D2E"/>
                </a:solidFill>
                <a:latin typeface="Golos Text" panose="020B0503020202020204"/>
              </a:rPr>
              <a:t>Провести экспериментальную проверку системы и оценить влияние новой архитектуры на надежность сервиса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BFD43E-1851-FE18-358C-D2A1000C89DE}"/>
              </a:ext>
            </a:extLst>
          </p:cNvPr>
          <p:cNvSpPr txBox="1"/>
          <p:nvPr/>
        </p:nvSpPr>
        <p:spPr>
          <a:xfrm>
            <a:off x="8388927" y="445423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1CFCF946-3A6F-2D44-9885-12E0FDAE8C1C}" type="slidenum">
              <a:rPr lang="ru-RU" smtClean="0"/>
              <a:t>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593069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F71AF6-E07B-F580-6747-62A47D81B6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238FC97-2AEB-C4BF-75E4-A13795C952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Бизнес-процесс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12F351FA-855A-83FD-DFB5-576E86B817B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rcRect b="66653"/>
          <a:stretch>
            <a:fillRect/>
          </a:stretch>
        </p:blipFill>
        <p:spPr>
          <a:xfrm>
            <a:off x="966006" y="1486850"/>
            <a:ext cx="1832612" cy="10849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2F1A168-E1A6-38F7-1FDC-D5237B4DC1A2}"/>
              </a:ext>
            </a:extLst>
          </p:cNvPr>
          <p:cNvSpPr txBox="1"/>
          <p:nvPr/>
        </p:nvSpPr>
        <p:spPr>
          <a:xfrm>
            <a:off x="8388927" y="445423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1CFCF946-3A6F-2D44-9885-12E0FDAE8C1C}" type="slidenum">
              <a:rPr lang="ru-RU" smtClean="0"/>
              <a:t>5</a:t>
            </a:fld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014BB2-44C7-C78E-2B88-4959F805B5E5}"/>
              </a:ext>
            </a:extLst>
          </p:cNvPr>
          <p:cNvSpPr txBox="1"/>
          <p:nvPr/>
        </p:nvSpPr>
        <p:spPr>
          <a:xfrm>
            <a:off x="778970" y="1117518"/>
            <a:ext cx="35121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Стадии обработки фида</a:t>
            </a:r>
          </a:p>
        </p:txBody>
      </p:sp>
    </p:spTree>
    <p:extLst>
      <p:ext uri="{BB962C8B-B14F-4D97-AF65-F5344CB8AC3E}">
        <p14:creationId xmlns:p14="http://schemas.microsoft.com/office/powerpoint/2010/main" val="31209960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FD1275-61A2-BECC-F00E-EBF643B13F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F17131-EA75-1390-FD81-4EF4D3240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Бизнес-процесс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274147B2-D1DA-FFFD-EC61-0C8C7AA35B8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rcRect b="50524"/>
          <a:stretch>
            <a:fillRect/>
          </a:stretch>
        </p:blipFill>
        <p:spPr>
          <a:xfrm>
            <a:off x="966006" y="1486850"/>
            <a:ext cx="1832612" cy="160964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87A9562-CDB3-6705-8C0D-07899B8CDECB}"/>
              </a:ext>
            </a:extLst>
          </p:cNvPr>
          <p:cNvSpPr txBox="1"/>
          <p:nvPr/>
        </p:nvSpPr>
        <p:spPr>
          <a:xfrm>
            <a:off x="8388927" y="445423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1CFCF946-3A6F-2D44-9885-12E0FDAE8C1C}" type="slidenum">
              <a:rPr lang="ru-RU" smtClean="0"/>
              <a:t>6</a:t>
            </a:fld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C7FA350-6D02-5011-3085-902100CEDD13}"/>
              </a:ext>
            </a:extLst>
          </p:cNvPr>
          <p:cNvSpPr txBox="1"/>
          <p:nvPr/>
        </p:nvSpPr>
        <p:spPr>
          <a:xfrm>
            <a:off x="778970" y="1117518"/>
            <a:ext cx="35121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Стадии обработки фида</a:t>
            </a:r>
          </a:p>
        </p:txBody>
      </p:sp>
    </p:spTree>
    <p:extLst>
      <p:ext uri="{BB962C8B-B14F-4D97-AF65-F5344CB8AC3E}">
        <p14:creationId xmlns:p14="http://schemas.microsoft.com/office/powerpoint/2010/main" val="14579589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DE2951-9C7F-EEC8-3DA6-2F1F94FE0B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667784D-A641-BD1C-8F5D-60F10C222A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Бизнес-процесс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4A1712DC-0BB7-D945-733D-551BFCED780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966006" y="1486850"/>
            <a:ext cx="1832612" cy="32534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DAA6794-1FAD-7B89-CF7C-463761CFE45E}"/>
              </a:ext>
            </a:extLst>
          </p:cNvPr>
          <p:cNvSpPr txBox="1"/>
          <p:nvPr/>
        </p:nvSpPr>
        <p:spPr>
          <a:xfrm>
            <a:off x="8388927" y="445423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1CFCF946-3A6F-2D44-9885-12E0FDAE8C1C}" type="slidenum">
              <a:rPr lang="ru-RU" smtClean="0"/>
              <a:t>7</a:t>
            </a:fld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EF071D4-961F-792A-5B2B-5EF0179528F8}"/>
              </a:ext>
            </a:extLst>
          </p:cNvPr>
          <p:cNvSpPr txBox="1"/>
          <p:nvPr/>
        </p:nvSpPr>
        <p:spPr>
          <a:xfrm>
            <a:off x="778970" y="1117518"/>
            <a:ext cx="35121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Стадии обработки фида</a:t>
            </a:r>
          </a:p>
        </p:txBody>
      </p:sp>
    </p:spTree>
    <p:extLst>
      <p:ext uri="{BB962C8B-B14F-4D97-AF65-F5344CB8AC3E}">
        <p14:creationId xmlns:p14="http://schemas.microsoft.com/office/powerpoint/2010/main" val="15926209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4DD14C-1DC7-5EF0-34B7-D13263114A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78398B-EA16-B4AF-1FEA-2AEE0A5E5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Бизнес-процесс</a:t>
            </a:r>
            <a:r>
              <a:rPr lang="en-US" dirty="0"/>
              <a:t> </a:t>
            </a:r>
            <a:r>
              <a:rPr lang="ru-RU" dirty="0"/>
              <a:t>в </a:t>
            </a:r>
            <a:r>
              <a:rPr lang="en-US" dirty="0"/>
              <a:t>Temporal</a:t>
            </a:r>
            <a:endParaRPr lang="ru-RU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3B4A8518-9E09-42A7-8D3E-E0DB139E8E9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966006" y="1486850"/>
            <a:ext cx="1832612" cy="32534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69F19B1-AA4E-8B09-7893-AB8D868D70DC}"/>
              </a:ext>
            </a:extLst>
          </p:cNvPr>
          <p:cNvSpPr txBox="1"/>
          <p:nvPr/>
        </p:nvSpPr>
        <p:spPr>
          <a:xfrm>
            <a:off x="8388927" y="445423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1CFCF946-3A6F-2D44-9885-12E0FDAE8C1C}" type="slidenum">
              <a:rPr lang="ru-RU" smtClean="0"/>
              <a:t>8</a:t>
            </a:fld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C461483-22C7-D442-8884-9E56DEDEB960}"/>
              </a:ext>
            </a:extLst>
          </p:cNvPr>
          <p:cNvSpPr txBox="1"/>
          <p:nvPr/>
        </p:nvSpPr>
        <p:spPr>
          <a:xfrm>
            <a:off x="778970" y="1117518"/>
            <a:ext cx="35121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Стадии обработки фида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E0BA664-0658-3BEA-0C79-0DD7E0164E9A}"/>
              </a:ext>
            </a:extLst>
          </p:cNvPr>
          <p:cNvSpPr txBox="1"/>
          <p:nvPr/>
        </p:nvSpPr>
        <p:spPr>
          <a:xfrm>
            <a:off x="4291097" y="1117518"/>
            <a:ext cx="35121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Бизнес-процесс в </a:t>
            </a:r>
            <a:r>
              <a:rPr lang="en-US" dirty="0"/>
              <a:t>Temporal</a:t>
            </a:r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0DE3265-9B0B-897F-E190-B9A8950C252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86516"/>
          <a:stretch>
            <a:fillRect/>
          </a:stretch>
        </p:blipFill>
        <p:spPr>
          <a:xfrm>
            <a:off x="3899889" y="1486850"/>
            <a:ext cx="4294541" cy="432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60816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0FFD43-ACD3-8393-2062-2554EF1E81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0AD216-AEAB-F48B-CF31-8FCEF6BC5E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Бизнес-процесс</a:t>
            </a:r>
            <a:r>
              <a:rPr lang="en-US" dirty="0"/>
              <a:t> </a:t>
            </a:r>
            <a:r>
              <a:rPr lang="ru-RU" dirty="0"/>
              <a:t>в </a:t>
            </a:r>
            <a:r>
              <a:rPr lang="en-US" dirty="0"/>
              <a:t>Temporal</a:t>
            </a:r>
            <a:endParaRPr lang="ru-RU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90A3A0A5-30B8-7A75-F390-B2BE9CC5BF9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966006" y="1486850"/>
            <a:ext cx="1832612" cy="32534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C99B6CF-67CB-688D-86AE-461B6D08743E}"/>
              </a:ext>
            </a:extLst>
          </p:cNvPr>
          <p:cNvSpPr txBox="1"/>
          <p:nvPr/>
        </p:nvSpPr>
        <p:spPr>
          <a:xfrm>
            <a:off x="8388927" y="445423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1CFCF946-3A6F-2D44-9885-12E0FDAE8C1C}" type="slidenum">
              <a:rPr lang="ru-RU" smtClean="0"/>
              <a:t>9</a:t>
            </a:fld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91770B-E89C-B031-1555-E2A247F2F778}"/>
              </a:ext>
            </a:extLst>
          </p:cNvPr>
          <p:cNvSpPr txBox="1"/>
          <p:nvPr/>
        </p:nvSpPr>
        <p:spPr>
          <a:xfrm>
            <a:off x="778970" y="1117518"/>
            <a:ext cx="35121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Стадии обработки фида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64B6B22-ADC8-C36A-2926-D230E1780D46}"/>
              </a:ext>
            </a:extLst>
          </p:cNvPr>
          <p:cNvSpPr txBox="1"/>
          <p:nvPr/>
        </p:nvSpPr>
        <p:spPr>
          <a:xfrm>
            <a:off x="4291097" y="1117518"/>
            <a:ext cx="35121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Бизнес-процесс в </a:t>
            </a:r>
            <a:r>
              <a:rPr lang="en-US" dirty="0"/>
              <a:t>Temporal</a:t>
            </a:r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289C9AA-1D61-CAF6-D5C5-262DDC53FE9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" b="78515"/>
          <a:stretch>
            <a:fillRect/>
          </a:stretch>
        </p:blipFill>
        <p:spPr>
          <a:xfrm>
            <a:off x="3899889" y="1486850"/>
            <a:ext cx="4294541" cy="688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1422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3FCABC-4D57-68FA-75FB-F3A196ED2A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4C0C78D-8542-83C7-86E9-B49F4AE741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Бизнес-процесс</a:t>
            </a:r>
            <a:r>
              <a:rPr lang="en-US" dirty="0"/>
              <a:t> </a:t>
            </a:r>
            <a:r>
              <a:rPr lang="ru-RU" dirty="0"/>
              <a:t>в </a:t>
            </a:r>
            <a:r>
              <a:rPr lang="en-US" dirty="0"/>
              <a:t>Temporal</a:t>
            </a:r>
            <a:endParaRPr lang="ru-RU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4894343A-E98F-A25B-D9F1-EEF8909E0DA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966006" y="1486850"/>
            <a:ext cx="1832612" cy="32534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C28F678-C9F9-506D-61BE-ED40CD7DE7E9}"/>
              </a:ext>
            </a:extLst>
          </p:cNvPr>
          <p:cNvSpPr txBox="1"/>
          <p:nvPr/>
        </p:nvSpPr>
        <p:spPr>
          <a:xfrm>
            <a:off x="8388927" y="445423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1CFCF946-3A6F-2D44-9885-12E0FDAE8C1C}" type="slidenum">
              <a:rPr lang="ru-RU" smtClean="0"/>
              <a:t>10</a:t>
            </a:fld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CEA445A-016D-93D4-1BC5-C0042C48983B}"/>
              </a:ext>
            </a:extLst>
          </p:cNvPr>
          <p:cNvSpPr txBox="1"/>
          <p:nvPr/>
        </p:nvSpPr>
        <p:spPr>
          <a:xfrm>
            <a:off x="778970" y="1117518"/>
            <a:ext cx="35121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Стадии обработки фида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A0E374B-A27A-AE77-DBA5-CA9DA57A18D1}"/>
              </a:ext>
            </a:extLst>
          </p:cNvPr>
          <p:cNvSpPr txBox="1"/>
          <p:nvPr/>
        </p:nvSpPr>
        <p:spPr>
          <a:xfrm>
            <a:off x="4291097" y="1117518"/>
            <a:ext cx="35121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Бизнес-процесс в </a:t>
            </a:r>
            <a:r>
              <a:rPr lang="en-US" dirty="0"/>
              <a:t>Temporal</a:t>
            </a:r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7CA3067-A805-5307-117F-CE99CD3F698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" b="66137"/>
          <a:stretch>
            <a:fillRect/>
          </a:stretch>
        </p:blipFill>
        <p:spPr>
          <a:xfrm>
            <a:off x="3899889" y="1486850"/>
            <a:ext cx="4294541" cy="1084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16922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0DD94C-42AB-668B-87DA-B73043736F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A69E64-FCF0-CC53-7B9D-9C3583A0E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Бизнес-процесс</a:t>
            </a:r>
            <a:r>
              <a:rPr lang="en-US" dirty="0"/>
              <a:t> </a:t>
            </a:r>
            <a:r>
              <a:rPr lang="ru-RU" dirty="0"/>
              <a:t>в </a:t>
            </a:r>
            <a:r>
              <a:rPr lang="en-US" dirty="0"/>
              <a:t>Temporal</a:t>
            </a:r>
            <a:endParaRPr lang="ru-RU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FAFF8EC2-F60F-6360-F98F-120F3420B74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966006" y="1486850"/>
            <a:ext cx="1832612" cy="32534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15BFEA9-8874-047F-E619-12885D1EC378}"/>
              </a:ext>
            </a:extLst>
          </p:cNvPr>
          <p:cNvSpPr txBox="1"/>
          <p:nvPr/>
        </p:nvSpPr>
        <p:spPr>
          <a:xfrm>
            <a:off x="8388927" y="445423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1CFCF946-3A6F-2D44-9885-12E0FDAE8C1C}" type="slidenum">
              <a:rPr lang="ru-RU" smtClean="0"/>
              <a:t>11</a:t>
            </a:fld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7CC40F4-D317-2150-DD21-912EAB33EBB7}"/>
              </a:ext>
            </a:extLst>
          </p:cNvPr>
          <p:cNvSpPr txBox="1"/>
          <p:nvPr/>
        </p:nvSpPr>
        <p:spPr>
          <a:xfrm>
            <a:off x="778970" y="1117518"/>
            <a:ext cx="35121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Стадии обработки фида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FAECBD9-4A7A-C016-3425-AB48ED3ED2FD}"/>
              </a:ext>
            </a:extLst>
          </p:cNvPr>
          <p:cNvSpPr txBox="1"/>
          <p:nvPr/>
        </p:nvSpPr>
        <p:spPr>
          <a:xfrm>
            <a:off x="4291097" y="1117518"/>
            <a:ext cx="35121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Бизнес-процесс в </a:t>
            </a:r>
            <a:r>
              <a:rPr lang="en-US" dirty="0"/>
              <a:t>Temporal</a:t>
            </a:r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FFF4D7A-A4C8-75D5-DE3D-0BE7E5D3428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" b="50191"/>
          <a:stretch>
            <a:fillRect/>
          </a:stretch>
        </p:blipFill>
        <p:spPr>
          <a:xfrm>
            <a:off x="3899889" y="1486850"/>
            <a:ext cx="4294541" cy="1595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81235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677C14-FBD7-CE17-915A-FF72C043B4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A36E0D-DE77-FE23-CDEE-CDF0DC905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Бизнес-процесс</a:t>
            </a:r>
            <a:r>
              <a:rPr lang="en-US" dirty="0"/>
              <a:t> </a:t>
            </a:r>
            <a:r>
              <a:rPr lang="ru-RU" dirty="0"/>
              <a:t>в </a:t>
            </a:r>
            <a:r>
              <a:rPr lang="en-US" dirty="0"/>
              <a:t>Temporal</a:t>
            </a:r>
            <a:endParaRPr lang="ru-RU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B42A1D6A-324D-8501-8678-186024D4905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966006" y="1486850"/>
            <a:ext cx="1832612" cy="32534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6A4D8B4-62C6-B81A-AB82-D6BCC59CB01F}"/>
              </a:ext>
            </a:extLst>
          </p:cNvPr>
          <p:cNvSpPr txBox="1"/>
          <p:nvPr/>
        </p:nvSpPr>
        <p:spPr>
          <a:xfrm>
            <a:off x="8388927" y="445423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1CFCF946-3A6F-2D44-9885-12E0FDAE8C1C}" type="slidenum">
              <a:rPr lang="ru-RU" smtClean="0"/>
              <a:t>12</a:t>
            </a:fld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3A5731-F2B0-A241-6D80-8A495CE1FCDE}"/>
              </a:ext>
            </a:extLst>
          </p:cNvPr>
          <p:cNvSpPr txBox="1"/>
          <p:nvPr/>
        </p:nvSpPr>
        <p:spPr>
          <a:xfrm>
            <a:off x="778970" y="1117518"/>
            <a:ext cx="35121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Стадии обработки фида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CD160F6-EE25-BD66-69BD-E135E684B66F}"/>
              </a:ext>
            </a:extLst>
          </p:cNvPr>
          <p:cNvSpPr txBox="1"/>
          <p:nvPr/>
        </p:nvSpPr>
        <p:spPr>
          <a:xfrm>
            <a:off x="4291097" y="1117518"/>
            <a:ext cx="35121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Бизнес-процесс в </a:t>
            </a:r>
            <a:r>
              <a:rPr lang="en-US" dirty="0"/>
              <a:t>Temporal</a:t>
            </a:r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0A9091B-AA56-BF69-36B1-76B54A1CDDE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" b="20746"/>
          <a:stretch>
            <a:fillRect/>
          </a:stretch>
        </p:blipFill>
        <p:spPr>
          <a:xfrm>
            <a:off x="3899889" y="1486849"/>
            <a:ext cx="4294541" cy="2539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26689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5E7F3A-4DA0-CFD0-507C-4E51EF8D14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594217-AECC-21C0-CA70-635C59E39C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Бизнес-процесс</a:t>
            </a:r>
            <a:r>
              <a:rPr lang="en-US" dirty="0"/>
              <a:t> </a:t>
            </a:r>
            <a:r>
              <a:rPr lang="ru-RU" dirty="0"/>
              <a:t>в </a:t>
            </a:r>
            <a:r>
              <a:rPr lang="en-US" dirty="0"/>
              <a:t>Temporal</a:t>
            </a:r>
            <a:endParaRPr lang="ru-RU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D3B18D9B-44D6-979C-A8C9-F59CDE61AAD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966006" y="1486850"/>
            <a:ext cx="1832612" cy="32534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B494F9A-75E9-1911-633D-653919BD0D72}"/>
              </a:ext>
            </a:extLst>
          </p:cNvPr>
          <p:cNvSpPr txBox="1"/>
          <p:nvPr/>
        </p:nvSpPr>
        <p:spPr>
          <a:xfrm>
            <a:off x="8388927" y="445423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1CFCF946-3A6F-2D44-9885-12E0FDAE8C1C}" type="slidenum">
              <a:rPr lang="ru-RU" smtClean="0"/>
              <a:t>13</a:t>
            </a:fld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C0F42D1-47A4-BF36-6FA9-0493EA30B7EA}"/>
              </a:ext>
            </a:extLst>
          </p:cNvPr>
          <p:cNvSpPr txBox="1"/>
          <p:nvPr/>
        </p:nvSpPr>
        <p:spPr>
          <a:xfrm>
            <a:off x="778970" y="1117518"/>
            <a:ext cx="35121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Стадии обработки фида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E3D68F3-0649-6496-5DB0-FB8A7E4CD715}"/>
              </a:ext>
            </a:extLst>
          </p:cNvPr>
          <p:cNvSpPr txBox="1"/>
          <p:nvPr/>
        </p:nvSpPr>
        <p:spPr>
          <a:xfrm>
            <a:off x="4291097" y="1117518"/>
            <a:ext cx="35121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Бизнес-процесс в </a:t>
            </a:r>
            <a:r>
              <a:rPr lang="en-US" dirty="0"/>
              <a:t>Temporal</a:t>
            </a:r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3B6C050D-5008-AAC1-01FB-2AA3E3BABD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9889" y="1486850"/>
            <a:ext cx="4294541" cy="3203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24796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365710-BEB5-262D-D726-9F83ABF463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8150B4-CC5E-E8F0-91FA-B84048FC2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Особенность платформы </a:t>
            </a:r>
            <a:r>
              <a:rPr lang="en-US" dirty="0"/>
              <a:t>Temporal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20415E-82C1-9195-E802-E1A482BD8533}"/>
              </a:ext>
            </a:extLst>
          </p:cNvPr>
          <p:cNvSpPr txBox="1"/>
          <p:nvPr/>
        </p:nvSpPr>
        <p:spPr>
          <a:xfrm>
            <a:off x="8388927" y="445423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1CFCF946-3A6F-2D44-9885-12E0FDAE8C1C}" type="slidenum">
              <a:rPr lang="ru-RU" smtClean="0"/>
              <a:t>14</a:t>
            </a:fld>
            <a:endParaRPr lang="ru-RU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2D7818DE-C382-81EA-EF50-6FE9B1900A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7021" y="1129144"/>
            <a:ext cx="5490897" cy="3559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73859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9B2B8D-EB56-43AD-8DE9-493E2E29BA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44963E-9717-5BC6-81BD-770C71289A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Ключевые технические решения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051DE9-7034-8437-EF64-E6D3BDCC307C}"/>
              </a:ext>
            </a:extLst>
          </p:cNvPr>
          <p:cNvSpPr txBox="1"/>
          <p:nvPr/>
        </p:nvSpPr>
        <p:spPr>
          <a:xfrm>
            <a:off x="8388927" y="445423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1CFCF946-3A6F-2D44-9885-12E0FDAE8C1C}" type="slidenum">
              <a:rPr lang="ru-RU" smtClean="0"/>
              <a:t>15</a:t>
            </a:fld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96A93C-886F-DDCE-B8E4-F0452B86E391}"/>
              </a:ext>
            </a:extLst>
          </p:cNvPr>
          <p:cNvSpPr txBox="1"/>
          <p:nvPr/>
        </p:nvSpPr>
        <p:spPr>
          <a:xfrm>
            <a:off x="706581" y="1156855"/>
            <a:ext cx="674023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arenR"/>
            </a:pPr>
            <a:r>
              <a:rPr lang="ru-RU" dirty="0"/>
              <a:t>Использование оркестратора и отказ от </a:t>
            </a:r>
            <a:r>
              <a:rPr lang="en-US" dirty="0" err="1"/>
              <a:t>akka</a:t>
            </a:r>
            <a:r>
              <a:rPr lang="en-US" dirty="0"/>
              <a:t>-effects</a:t>
            </a:r>
            <a:endParaRPr lang="ru-RU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dirty="0"/>
              <a:t>Размытие распределения бизнес-процессов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dirty="0"/>
              <a:t>Больше нет утечек памяти библиотеки</a:t>
            </a:r>
          </a:p>
          <a:p>
            <a:pPr marL="342900" indent="-342900">
              <a:buAutoNum type="arabicParenR" startAt="2"/>
            </a:pPr>
            <a:r>
              <a:rPr lang="ru-RU" dirty="0"/>
              <a:t>Использование внешнего кеша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dirty="0"/>
              <a:t>Использование </a:t>
            </a:r>
            <a:r>
              <a:rPr lang="en-US" dirty="0"/>
              <a:t>YDB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dirty="0"/>
              <a:t>Ускорение </a:t>
            </a:r>
            <a:r>
              <a:rPr lang="en-US" dirty="0"/>
              <a:t>MTTR </a:t>
            </a:r>
            <a:r>
              <a:rPr lang="ru-RU" dirty="0"/>
              <a:t>после релизов</a:t>
            </a:r>
          </a:p>
        </p:txBody>
      </p:sp>
    </p:spTree>
    <p:extLst>
      <p:ext uri="{BB962C8B-B14F-4D97-AF65-F5344CB8AC3E}">
        <p14:creationId xmlns:p14="http://schemas.microsoft.com/office/powerpoint/2010/main" val="5175322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7FF8A7-A56D-A915-AEE6-632B7A3630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EF674E7-35FC-A65D-63D0-553FAABC8A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Работа в боевом окружении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C4E4A4-9078-D407-8D20-4F3B580CEBFA}"/>
              </a:ext>
            </a:extLst>
          </p:cNvPr>
          <p:cNvSpPr txBox="1"/>
          <p:nvPr/>
        </p:nvSpPr>
        <p:spPr>
          <a:xfrm>
            <a:off x="8388927" y="445423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1CFCF946-3A6F-2D44-9885-12E0FDAE8C1C}" type="slidenum">
              <a:rPr lang="ru-RU" smtClean="0"/>
              <a:t>16</a:t>
            </a:fld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664452F-31AC-8F30-9248-4F2FF7C021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109236"/>
            <a:ext cx="7772400" cy="334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20520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FB3F8F-B842-043A-C89C-62C0228DE0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67ADEE-C335-2186-196D-660692BA6A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Анализ разработанной системы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580B3C-FCAF-C698-D67C-769993E26A12}"/>
              </a:ext>
            </a:extLst>
          </p:cNvPr>
          <p:cNvSpPr txBox="1"/>
          <p:nvPr/>
        </p:nvSpPr>
        <p:spPr>
          <a:xfrm>
            <a:off x="8388927" y="445423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1CFCF946-3A6F-2D44-9885-12E0FDAE8C1C}" type="slidenum">
              <a:rPr lang="ru-RU" smtClean="0"/>
              <a:t>17</a:t>
            </a:fld>
            <a:endParaRPr lang="ru-RU" dirty="0"/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5594E7A1-0360-3212-8BF8-C4DBCC127C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3695892"/>
              </p:ext>
            </p:extLst>
          </p:nvPr>
        </p:nvGraphicFramePr>
        <p:xfrm>
          <a:off x="858982" y="1391805"/>
          <a:ext cx="7674494" cy="2094201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421128">
                  <a:extLst>
                    <a:ext uri="{9D8B030D-6E8A-4147-A177-3AD203B41FA5}">
                      <a16:colId xmlns:a16="http://schemas.microsoft.com/office/drawing/2014/main" val="1075047612"/>
                    </a:ext>
                  </a:extLst>
                </a:gridCol>
                <a:gridCol w="1751122">
                  <a:extLst>
                    <a:ext uri="{9D8B030D-6E8A-4147-A177-3AD203B41FA5}">
                      <a16:colId xmlns:a16="http://schemas.microsoft.com/office/drawing/2014/main" val="3367733555"/>
                    </a:ext>
                  </a:extLst>
                </a:gridCol>
                <a:gridCol w="1751122">
                  <a:extLst>
                    <a:ext uri="{9D8B030D-6E8A-4147-A177-3AD203B41FA5}">
                      <a16:colId xmlns:a16="http://schemas.microsoft.com/office/drawing/2014/main" val="2823544131"/>
                    </a:ext>
                  </a:extLst>
                </a:gridCol>
                <a:gridCol w="1751122">
                  <a:extLst>
                    <a:ext uri="{9D8B030D-6E8A-4147-A177-3AD203B41FA5}">
                      <a16:colId xmlns:a16="http://schemas.microsoft.com/office/drawing/2014/main" val="1701140890"/>
                    </a:ext>
                  </a:extLst>
                </a:gridCol>
              </a:tblGrid>
              <a:tr h="698067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Метрика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Старое решение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Новое решение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Эффект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4808651"/>
                  </a:ext>
                </a:extLst>
              </a:tr>
              <a:tr h="698067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Аптайм</a:t>
                      </a:r>
                      <a:endParaRPr lang="ru-RU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45 дней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180+</a:t>
                      </a:r>
                      <a:r>
                        <a:rPr lang="en-US" dirty="0"/>
                        <a:t> </a:t>
                      </a:r>
                      <a:r>
                        <a:rPr lang="ru-RU" dirty="0"/>
                        <a:t>дней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+300</a:t>
                      </a:r>
                      <a:r>
                        <a:rPr lang="en-US" dirty="0"/>
                        <a:t>%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3142005"/>
                  </a:ext>
                </a:extLst>
              </a:tr>
              <a:tr h="69806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MTTR</a:t>
                      </a:r>
                      <a:r>
                        <a:rPr lang="ru-RU" dirty="0"/>
                        <a:t> обработки фида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</a:t>
                      </a:r>
                      <a:r>
                        <a:rPr lang="en-US" dirty="0"/>
                        <a:t>5 </a:t>
                      </a:r>
                      <a:r>
                        <a:rPr lang="ru-RU" dirty="0"/>
                        <a:t>минут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15 секунд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+98</a:t>
                      </a:r>
                      <a:r>
                        <a:rPr lang="en-US" dirty="0"/>
                        <a:t>%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18705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8267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69C62E-1AE5-D94E-2C59-DBA23FF60A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E79AB1-4342-C86C-B2EF-A3007F6CD0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Заключение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F0A162-9EC9-C599-FAD7-FE3535F6DEDD}"/>
              </a:ext>
            </a:extLst>
          </p:cNvPr>
          <p:cNvSpPr txBox="1"/>
          <p:nvPr/>
        </p:nvSpPr>
        <p:spPr>
          <a:xfrm>
            <a:off x="8388927" y="445423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1CFCF946-3A6F-2D44-9885-12E0FDAE8C1C}" type="slidenum">
              <a:rPr lang="ru-RU" smtClean="0"/>
              <a:t>18</a:t>
            </a:fld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448B86-5633-3CB1-78B0-000701BA6DD5}"/>
              </a:ext>
            </a:extLst>
          </p:cNvPr>
          <p:cNvSpPr txBox="1"/>
          <p:nvPr/>
        </p:nvSpPr>
        <p:spPr>
          <a:xfrm>
            <a:off x="652895" y="1129065"/>
            <a:ext cx="797156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2C2D2E"/>
                </a:solidFill>
                <a:latin typeface="Golos Text" panose="020B0503020202020204"/>
              </a:rPr>
              <a:t>Цель достигнута: </a:t>
            </a:r>
            <a:r>
              <a:rPr lang="ru-RU" dirty="0">
                <a:solidFill>
                  <a:srgbClr val="2C2D2E"/>
                </a:solidFill>
                <a:latin typeface="Golos Text" panose="020B0503020202020204"/>
              </a:rPr>
              <a:t>Надежность сервиса увеличена по основным критериям</a:t>
            </a:r>
          </a:p>
          <a:p>
            <a:endParaRPr lang="en-US" b="1" dirty="0">
              <a:solidFill>
                <a:srgbClr val="2C2D2E"/>
              </a:solidFill>
              <a:latin typeface="Golos Text" panose="020B0503020202020204"/>
            </a:endParaRPr>
          </a:p>
          <a:p>
            <a:r>
              <a:rPr lang="ru-RU" b="1" dirty="0">
                <a:solidFill>
                  <a:srgbClr val="2C2D2E"/>
                </a:solidFill>
                <a:latin typeface="Golos Text" panose="020B0503020202020204"/>
              </a:rPr>
              <a:t>В рамках работы было реализовано: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2C2D2E"/>
                </a:solidFill>
                <a:latin typeface="Golos Text" panose="020B0503020202020204"/>
              </a:rPr>
              <a:t>Проведен анализ существующего сервиса интеграции автомобильных объявлений и выявлены основные причины сбоев в его работе.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2C2D2E"/>
                </a:solidFill>
                <a:latin typeface="Golos Text" panose="020B0503020202020204"/>
              </a:rPr>
              <a:t>Разработана архитектура и механизм интеграции нового сервиса</a:t>
            </a:r>
            <a:endParaRPr lang="en-US" dirty="0">
              <a:solidFill>
                <a:srgbClr val="2C2D2E"/>
              </a:solidFill>
              <a:latin typeface="Golos Text" panose="020B0503020202020204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2C2D2E"/>
                </a:solidFill>
                <a:latin typeface="Golos Text" panose="020B0503020202020204"/>
              </a:rPr>
              <a:t>Проведено интеграционное тестирование нового сервиса и сравнение с существующим решением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2C2D2E"/>
                </a:solidFill>
                <a:latin typeface="Golos Text" panose="020B0503020202020204"/>
              </a:rPr>
              <a:t>Проведена экспериментальная проверка системы</a:t>
            </a:r>
            <a:endParaRPr lang="ru-RU" sz="1600" dirty="0">
              <a:solidFill>
                <a:srgbClr val="2C2D2E"/>
              </a:solidFill>
              <a:latin typeface="Golos Text" panose="020B0503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9755469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5F29F8-3C0C-31C0-F55E-08E9AF589B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8C0C543-A1D9-D467-B865-F173B274AB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Акт о внедрении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00926E-56E2-3C25-536C-0F88C72BEF8C}"/>
              </a:ext>
            </a:extLst>
          </p:cNvPr>
          <p:cNvSpPr txBox="1"/>
          <p:nvPr/>
        </p:nvSpPr>
        <p:spPr>
          <a:xfrm>
            <a:off x="8388927" y="445423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1CFCF946-3A6F-2D44-9885-12E0FDAE8C1C}" type="slidenum">
              <a:rPr lang="ru-RU" smtClean="0"/>
              <a:t>19</a:t>
            </a:fld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32EE818-F0DB-09DD-2E65-F1DDF1277A1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81" t="-404" r="-381" b="24175"/>
          <a:stretch>
            <a:fillRect/>
          </a:stretch>
        </p:blipFill>
        <p:spPr>
          <a:xfrm>
            <a:off x="2668935" y="1209261"/>
            <a:ext cx="3115337" cy="3355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80298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01813"/>
            <a:ext cx="8229600" cy="620712"/>
          </a:xfrm>
        </p:spPr>
        <p:txBody>
          <a:bodyPr>
            <a:noAutofit/>
          </a:bodyPr>
          <a:lstStyle/>
          <a:p>
            <a:pPr algn="ctr"/>
            <a:r>
              <a:rPr lang="ru-RU" sz="4400" dirty="0"/>
              <a:t>Спасибо</a:t>
            </a:r>
            <a:br>
              <a:rPr lang="ru-RU" sz="4400" dirty="0"/>
            </a:br>
            <a:r>
              <a:rPr lang="ru-RU" sz="4400" dirty="0"/>
              <a:t>за внимание!</a:t>
            </a:r>
            <a:endParaRPr lang="en-US" sz="4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C445834-34CB-F6E2-51BC-F26A92C144A1}"/>
              </a:ext>
            </a:extLst>
          </p:cNvPr>
          <p:cNvSpPr txBox="1"/>
          <p:nvPr/>
        </p:nvSpPr>
        <p:spPr>
          <a:xfrm>
            <a:off x="6880123" y="4468762"/>
            <a:ext cx="19146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ru-RU" dirty="0">
                <a:solidFill>
                  <a:schemeClr val="bg1"/>
                </a:solidFill>
                <a:latin typeface="Golos Text" panose="020B0503020202020204" pitchFamily="34" charset="-52"/>
                <a:cs typeface="Golos Text" panose="020B0503020202020204" pitchFamily="34" charset="-52"/>
              </a:rPr>
              <a:t>Ваши контакты</a:t>
            </a:r>
          </a:p>
        </p:txBody>
      </p:sp>
    </p:spTree>
    <p:extLst>
      <p:ext uri="{BB962C8B-B14F-4D97-AF65-F5344CB8AC3E}">
        <p14:creationId xmlns:p14="http://schemas.microsoft.com/office/powerpoint/2010/main" val="18649425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2BEA39AC-0C16-00A4-A7D1-16251640B1A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BD03A893-ECFA-DEED-F342-DE63BD722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626549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2">
            <a:extLst>
              <a:ext uri="{FF2B5EF4-FFF2-40B4-BE49-F238E27FC236}">
                <a16:creationId xmlns:a16="http://schemas.microsoft.com/office/drawing/2014/main" id="{D6F04732-FA0C-6214-4E09-404CAC7C88A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469534-90B7-5774-2306-1A9DD2D6F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E95D14C-0749-B366-DF60-831456AD6EE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83762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359C3AC6-6CD1-C215-A3EB-1B669F1857E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2A005B5-E37E-D5F7-C74B-2628D4CDB87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0683ECEF-C126-4F4F-2B77-7FC63C7D7F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ru-RU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07358EA-8600-ADBA-52DF-6AC12A92CAA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F6774C3B-FC5A-185E-8092-889B7F24F4F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4354076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3B75BB7E-5242-607C-D973-5C88E2FAB3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E922D73-8950-E8DA-530F-B7973DB0ECB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22F25C4-7663-582D-5776-E7C30E76E2A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1D6CCC61-BB2F-AF7A-925F-8FDA44CDA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6871697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70F00B-44C4-A9A6-336D-5B222144F0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3C0915-3C9E-B678-5CAD-719955CF65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C4FD5B4-DE07-9386-5C01-45B27A757E1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ru-RU" sz="16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  <a:p>
            <a:endParaRPr lang="ru-RU" sz="1600" dirty="0"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4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</p:spTree>
    <p:extLst>
      <p:ext uri="{BB962C8B-B14F-4D97-AF65-F5344CB8AC3E}">
        <p14:creationId xmlns:p14="http://schemas.microsoft.com/office/powerpoint/2010/main" val="36958814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 descr="Изображение выглядит как человек, внутренний, стена&#10;&#10;Автоматически созданное описание">
            <a:extLst>
              <a:ext uri="{FF2B5EF4-FFF2-40B4-BE49-F238E27FC236}">
                <a16:creationId xmlns:a16="http://schemas.microsoft.com/office/drawing/2014/main" id="{B39C447F-7789-D914-2682-159AE6820885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t="586" b="586"/>
          <a:stretch>
            <a:fillRect/>
          </a:stretch>
        </p:blipFill>
        <p:spPr/>
      </p:pic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A915A35-EC87-76A1-7F8F-9378EFC6B7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CF7CD16-D4EE-5D1A-67C6-8FC838F9763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3328362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EC9FE03F-277F-A8A4-C0C6-0727AF17B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C9A927D3-D22C-72D3-9160-2A7238153B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8" name="Рисунок 7">
            <a:extLst>
              <a:ext uri="{FF2B5EF4-FFF2-40B4-BE49-F238E27FC236}">
                <a16:creationId xmlns:a16="http://schemas.microsoft.com/office/drawing/2014/main" id="{7D6E8493-F34E-A3DE-5CC9-A51F7FEAAC7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</p:sp>
      <p:pic>
        <p:nvPicPr>
          <p:cNvPr id="14" name="Рисунок 13" descr="Изображение выглядит как человек, внутренний, стена&#10;&#10;Автоматически созданное описание">
            <a:extLst>
              <a:ext uri="{FF2B5EF4-FFF2-40B4-BE49-F238E27FC236}">
                <a16:creationId xmlns:a16="http://schemas.microsoft.com/office/drawing/2014/main" id="{55CAB40C-5337-8BF0-0625-E685F899AA74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t="5924" b="5924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16039808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14035420-BC7F-2B5B-9DC7-253E9700DE0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>
            <a:normAutofit lnSpcReduction="10000"/>
          </a:bodyPr>
          <a:lstStyle/>
          <a:p>
            <a:endParaRPr lang="ru-RU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B1B7B10-8BE9-0D4B-4BEE-4D9FECFAD77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>
            <a:normAutofit lnSpcReduction="10000"/>
          </a:bodyPr>
          <a:lstStyle/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230AEA4-B064-F849-E3CD-DAD6A93B849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>
            <a:normAutofit lnSpcReduction="10000"/>
          </a:bodyPr>
          <a:lstStyle/>
          <a:p>
            <a:endParaRPr lang="ru-RU"/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3F843F57-4FDA-9C25-01A0-9142B2AC0C1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C3DB4739-E298-9FB8-621A-63B5AD7B167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044626B9-CC56-F5AC-20ED-9D24FFDB6A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ru-RU"/>
          </a:p>
        </p:txBody>
      </p:sp>
      <p:sp>
        <p:nvSpPr>
          <p:cNvPr id="8" name="Объект 7">
            <a:extLst>
              <a:ext uri="{FF2B5EF4-FFF2-40B4-BE49-F238E27FC236}">
                <a16:creationId xmlns:a16="http://schemas.microsoft.com/office/drawing/2014/main" id="{C4EA0E19-5F7D-AE8D-E253-F58186F00CD1}"/>
              </a:ext>
            </a:extLst>
          </p:cNvPr>
          <p:cNvSpPr>
            <a:spLocks noGrp="1"/>
          </p:cNvSpPr>
          <p:nvPr>
            <p:ph sz="half" idx="26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13" name="Рисунок 12" descr="Изображение выглядит как человек, внутренний, стена&#10;&#10;Автоматически созданное описание">
            <a:extLst>
              <a:ext uri="{FF2B5EF4-FFF2-40B4-BE49-F238E27FC236}">
                <a16:creationId xmlns:a16="http://schemas.microsoft.com/office/drawing/2014/main" id="{D789FEA7-5AC2-99BA-BB98-5D94990238D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t="6711" b="6711"/>
          <a:stretch>
            <a:fillRect/>
          </a:stretch>
        </p:blipFill>
        <p:spPr/>
      </p:pic>
      <p:sp>
        <p:nvSpPr>
          <p:cNvPr id="10" name="Рисунок 9">
            <a:extLst>
              <a:ext uri="{FF2B5EF4-FFF2-40B4-BE49-F238E27FC236}">
                <a16:creationId xmlns:a16="http://schemas.microsoft.com/office/drawing/2014/main" id="{98BE48A4-EBBB-156D-739A-E7D0659C9501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/>
      </p:sp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96B9C87A-1CB9-8548-2E75-F473D1DB0B07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/>
      </p:sp>
    </p:spTree>
    <p:extLst>
      <p:ext uri="{BB962C8B-B14F-4D97-AF65-F5344CB8AC3E}">
        <p14:creationId xmlns:p14="http://schemas.microsoft.com/office/powerpoint/2010/main" val="293588884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20DBFC-6C80-6C49-5394-0A6FB6DAB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ru-RU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94B8CD1-C0D2-3E0D-BEF2-7B51C67BD8D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10" name="Рисунок 9" descr="Изображение выглядит как человек, внутренний, стена&#10;&#10;Автоматически созданное описание">
            <a:extLst>
              <a:ext uri="{FF2B5EF4-FFF2-40B4-BE49-F238E27FC236}">
                <a16:creationId xmlns:a16="http://schemas.microsoft.com/office/drawing/2014/main" id="{1350F252-A57D-E561-C9FF-C567FEE1DFB1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Id2"/>
          <a:srcRect t="5924" b="5924"/>
          <a:stretch>
            <a:fillRect/>
          </a:stretch>
        </p:blipFill>
        <p:spPr/>
      </p:pic>
      <p:sp>
        <p:nvSpPr>
          <p:cNvPr id="5" name="Рисунок 4">
            <a:extLst>
              <a:ext uri="{FF2B5EF4-FFF2-40B4-BE49-F238E27FC236}">
                <a16:creationId xmlns:a16="http://schemas.microsoft.com/office/drawing/2014/main" id="{635C7FA0-CA3F-99C6-A092-B8AB77EF3EE6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/>
      </p:sp>
      <p:sp>
        <p:nvSpPr>
          <p:cNvPr id="6" name="Рисунок 5">
            <a:extLst>
              <a:ext uri="{FF2B5EF4-FFF2-40B4-BE49-F238E27FC236}">
                <a16:creationId xmlns:a16="http://schemas.microsoft.com/office/drawing/2014/main" id="{8BD1F05A-4D93-BBD5-5092-281EBB8326D9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/>
      </p:sp>
      <p:sp>
        <p:nvSpPr>
          <p:cNvPr id="7" name="Рисунок 6">
            <a:extLst>
              <a:ext uri="{FF2B5EF4-FFF2-40B4-BE49-F238E27FC236}">
                <a16:creationId xmlns:a16="http://schemas.microsoft.com/office/drawing/2014/main" id="{965F9921-F51F-C17A-7697-90CCBA75BC51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/>
      </p:sp>
      <p:sp>
        <p:nvSpPr>
          <p:cNvPr id="8" name="Рисунок 7">
            <a:extLst>
              <a:ext uri="{FF2B5EF4-FFF2-40B4-BE49-F238E27FC236}">
                <a16:creationId xmlns:a16="http://schemas.microsoft.com/office/drawing/2014/main" id="{435074E3-2EE0-D6EC-E4D4-936FD11A5EDA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/>
      </p:sp>
    </p:spTree>
    <p:extLst>
      <p:ext uri="{BB962C8B-B14F-4D97-AF65-F5344CB8AC3E}">
        <p14:creationId xmlns:p14="http://schemas.microsoft.com/office/powerpoint/2010/main" val="335852361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396C84A0-6805-22CC-8370-4BB5276FE4A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>
            <a:normAutofit lnSpcReduction="10000"/>
          </a:bodyPr>
          <a:lstStyle/>
          <a:p>
            <a:endParaRPr lang="ru-RU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81A8490-1FF6-0E6E-8A8F-4B88094CBE8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>
            <a:normAutofit lnSpcReduction="10000"/>
          </a:bodyPr>
          <a:lstStyle/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E856410-4EF1-AD81-1ABA-060749F7BDF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>
            <a:normAutofit lnSpcReduction="10000"/>
          </a:bodyPr>
          <a:lstStyle/>
          <a:p>
            <a:endParaRPr lang="ru-RU"/>
          </a:p>
        </p:txBody>
      </p:sp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FBC0C6B6-A6AC-5C98-DFAB-E1AA4CC8B8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ru-RU"/>
          </a:p>
        </p:txBody>
      </p:sp>
      <p:pic>
        <p:nvPicPr>
          <p:cNvPr id="16" name="Рисунок 15" descr="Изображение выглядит как человек, внутренний, стена&#10;&#10;Автоматически созданное описание">
            <a:extLst>
              <a:ext uri="{FF2B5EF4-FFF2-40B4-BE49-F238E27FC236}">
                <a16:creationId xmlns:a16="http://schemas.microsoft.com/office/drawing/2014/main" id="{766C9A8E-4928-9833-EF09-D6BAA450CA17}"/>
              </a:ext>
            </a:extLst>
          </p:cNvPr>
          <p:cNvPicPr>
            <a:picLocks noGrp="1" noChangeAspect="1"/>
          </p:cNvPicPr>
          <p:nvPr>
            <p:ph type="pic" sz="quarter" idx="31"/>
          </p:nvPr>
        </p:nvPicPr>
        <p:blipFill rotWithShape="1">
          <a:blip r:embed="rId2"/>
          <a:srcRect l="-243" t="8890" r="243" b="31362"/>
          <a:stretch/>
        </p:blipFill>
        <p:spPr>
          <a:xfrm>
            <a:off x="454050" y="952607"/>
            <a:ext cx="2589213" cy="1304294"/>
          </a:xfrm>
        </p:spPr>
      </p:pic>
      <p:sp>
        <p:nvSpPr>
          <p:cNvPr id="7" name="Рисунок 6">
            <a:extLst>
              <a:ext uri="{FF2B5EF4-FFF2-40B4-BE49-F238E27FC236}">
                <a16:creationId xmlns:a16="http://schemas.microsoft.com/office/drawing/2014/main" id="{85978689-CD89-E96E-2201-F9A2214F8C5E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/>
      </p:sp>
      <p:sp>
        <p:nvSpPr>
          <p:cNvPr id="8" name="Рисунок 7">
            <a:extLst>
              <a:ext uri="{FF2B5EF4-FFF2-40B4-BE49-F238E27FC236}">
                <a16:creationId xmlns:a16="http://schemas.microsoft.com/office/drawing/2014/main" id="{BE87A544-55FB-1C80-6A79-70F4E704BF42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/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7D057E28-B633-327F-9C42-D2CC507D781F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/>
        <p:txBody>
          <a:bodyPr>
            <a:normAutofit lnSpcReduction="10000"/>
          </a:bodyPr>
          <a:lstStyle/>
          <a:p>
            <a:endParaRPr lang="ru-RU"/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020292B5-6AA1-44D1-C318-6077FB03E6C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/>
        <p:txBody>
          <a:bodyPr>
            <a:normAutofit lnSpcReduction="10000"/>
          </a:bodyPr>
          <a:lstStyle/>
          <a:p>
            <a:endParaRPr lang="ru-RU"/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E189EAC7-D2DA-00C2-DBDF-A7C6CFF1D024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/>
        <p:txBody>
          <a:bodyPr>
            <a:normAutofit lnSpcReduction="10000"/>
          </a:bodyPr>
          <a:lstStyle/>
          <a:p>
            <a:endParaRPr lang="ru-RU"/>
          </a:p>
        </p:txBody>
      </p:sp>
      <p:sp>
        <p:nvSpPr>
          <p:cNvPr id="12" name="Рисунок 11">
            <a:extLst>
              <a:ext uri="{FF2B5EF4-FFF2-40B4-BE49-F238E27FC236}">
                <a16:creationId xmlns:a16="http://schemas.microsoft.com/office/drawing/2014/main" id="{924ACE34-10A6-1C8E-8DAD-9AA9B4250EA3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/>
      </p:sp>
      <p:sp>
        <p:nvSpPr>
          <p:cNvPr id="13" name="Рисунок 12">
            <a:extLst>
              <a:ext uri="{FF2B5EF4-FFF2-40B4-BE49-F238E27FC236}">
                <a16:creationId xmlns:a16="http://schemas.microsoft.com/office/drawing/2014/main" id="{7435FDD6-FF73-314F-0ECA-07ACCB2459D5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/>
      </p:sp>
      <p:sp>
        <p:nvSpPr>
          <p:cNvPr id="14" name="Рисунок 13">
            <a:extLst>
              <a:ext uri="{FF2B5EF4-FFF2-40B4-BE49-F238E27FC236}">
                <a16:creationId xmlns:a16="http://schemas.microsoft.com/office/drawing/2014/main" id="{9CAB6ECF-A625-86F0-2A87-1E656A6B5A74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/>
      </p:sp>
    </p:spTree>
    <p:extLst>
      <p:ext uri="{BB962C8B-B14F-4D97-AF65-F5344CB8AC3E}">
        <p14:creationId xmlns:p14="http://schemas.microsoft.com/office/powerpoint/2010/main" val="50974102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E7C397-FDBA-8489-4F8A-3A2077ACC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655BF5-5CD8-E220-1E0D-2411C8DC61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801813"/>
            <a:ext cx="8229600" cy="620712"/>
          </a:xfrm>
        </p:spPr>
        <p:txBody>
          <a:bodyPr>
            <a:noAutofit/>
          </a:bodyPr>
          <a:lstStyle/>
          <a:p>
            <a:pPr algn="ctr"/>
            <a:r>
              <a:rPr lang="ru-RU" sz="4400" dirty="0"/>
              <a:t>Спасибо</a:t>
            </a:r>
            <a:br>
              <a:rPr lang="ru-RU" sz="4400" dirty="0"/>
            </a:br>
            <a:r>
              <a:rPr lang="ru-RU" sz="4400" dirty="0"/>
              <a:t>за внимание!</a:t>
            </a:r>
            <a:endParaRPr lang="en-US" sz="4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3B2883-4C5A-3242-F253-14BC8ABF3CEB}"/>
              </a:ext>
            </a:extLst>
          </p:cNvPr>
          <p:cNvSpPr txBox="1"/>
          <p:nvPr/>
        </p:nvSpPr>
        <p:spPr>
          <a:xfrm>
            <a:off x="6880123" y="4468762"/>
            <a:ext cx="19146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ru-RU" dirty="0">
                <a:solidFill>
                  <a:schemeClr val="bg1"/>
                </a:solidFill>
                <a:latin typeface="Golos Text" panose="020B0503020202020204" pitchFamily="34" charset="-52"/>
                <a:cs typeface="Golos Text" panose="020B0503020202020204" pitchFamily="34" charset="-52"/>
              </a:rPr>
              <a:t>Ваши контакты</a:t>
            </a:r>
          </a:p>
        </p:txBody>
      </p:sp>
    </p:spTree>
    <p:extLst>
      <p:ext uri="{BB962C8B-B14F-4D97-AF65-F5344CB8AC3E}">
        <p14:creationId xmlns:p14="http://schemas.microsoft.com/office/powerpoint/2010/main" val="244271866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F6E865-1779-C1D3-8C2B-CE6D381F74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600" dirty="0"/>
              <a:t>Рекомендации по оформлению слайдов</a:t>
            </a:r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5A86CA11-FF94-52CB-154C-7057EE646FD8}"/>
              </a:ext>
            </a:extLst>
          </p:cNvPr>
          <p:cNvSpPr txBox="1">
            <a:spLocks/>
          </p:cNvSpPr>
          <p:nvPr/>
        </p:nvSpPr>
        <p:spPr>
          <a:xfrm>
            <a:off x="436728" y="1021377"/>
            <a:ext cx="4327219" cy="20425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buSzPct val="100000"/>
              <a:buFont typeface="Arial" panose="020B0604020202020204" pitchFamily="34" charset="0"/>
              <a:buNone/>
              <a:defRPr sz="2000" kern="1200" baseline="0">
                <a:solidFill>
                  <a:schemeClr val="tx1"/>
                </a:solidFill>
                <a:latin typeface="Golos Text" panose="020B0503020202020204" pitchFamily="34" charset="-52"/>
                <a:ea typeface="+mn-ea"/>
                <a:cs typeface="Golos Text" panose="020B0503020202020204" pitchFamily="34" charset="-52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Golos Text" panose="020B0503020202020204" pitchFamily="34" charset="-52"/>
                <a:ea typeface="+mn-ea"/>
                <a:cs typeface="Golos Text" panose="020B0503020202020204" pitchFamily="34" charset="-52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Golos Text" panose="020B0503020202020204" pitchFamily="34" charset="-52"/>
                <a:ea typeface="+mn-ea"/>
                <a:cs typeface="Golos Text" panose="020B0503020202020204" pitchFamily="34" charset="-52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Golos Text" panose="020B0503020202020204" pitchFamily="34" charset="-52"/>
                <a:ea typeface="+mn-ea"/>
                <a:cs typeface="Golos Text" panose="020B0503020202020204" pitchFamily="34" charset="-52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Golos Text" panose="020B0503020202020204" pitchFamily="34" charset="-52"/>
                <a:ea typeface="+mn-ea"/>
                <a:cs typeface="Golos Text" panose="020B0503020202020204" pitchFamily="34" charset="-52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 dirty="0"/>
              <a:t> На слайдах должно быть как можно меньше текста. Не бойтесь оставлять свободное место, ведь оно имеет такую же ценность, как картинка или текст. </a:t>
            </a:r>
            <a:endParaRPr lang="ru-RU" sz="1200" b="0" i="0" dirty="0">
              <a:effectLst/>
              <a:latin typeface="Golos Text" panose="020B0503020202020204"/>
            </a:endParaRPr>
          </a:p>
          <a:p>
            <a:pPr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 dirty="0">
                <a:latin typeface="Golos Text" panose="020B0503020202020204"/>
              </a:rPr>
              <a:t> </a:t>
            </a:r>
            <a:r>
              <a:rPr lang="ru-RU" sz="1200" dirty="0"/>
              <a:t>Текст должен быть читабельным.</a:t>
            </a:r>
            <a:endParaRPr lang="ru-RU" sz="1200" dirty="0">
              <a:latin typeface="Golos Text" panose="020B0503020202020204"/>
            </a:endParaRPr>
          </a:p>
          <a:p>
            <a:pPr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 dirty="0">
                <a:latin typeface="Golos Text" panose="020B0503020202020204"/>
              </a:rPr>
              <a:t> </a:t>
            </a:r>
            <a:r>
              <a:rPr lang="ru-RU" sz="1200" dirty="0">
                <a:latin typeface="Golos Text" panose="020B0503020202020204" pitchFamily="34" charset="0"/>
                <a:ea typeface="Golos Text" panose="020B0503020202020204" pitchFamily="34" charset="0"/>
              </a:rPr>
              <a:t>Делайте акцент на самом важном, выделяя слова, например, другим цветом либо цветными плашками, или </a:t>
            </a:r>
            <a:r>
              <a:rPr lang="ru-RU" sz="1200" dirty="0">
                <a:effectLst/>
                <a:latin typeface="Golos Text" panose="020B0503020202020204" pitchFamily="34" charset="0"/>
                <a:ea typeface="Golos Text" panose="020B0503020202020204" pitchFamily="34" charset="0"/>
              </a:rPr>
              <a:t>же используя жирное или курсивное начертание.</a:t>
            </a:r>
          </a:p>
          <a:p>
            <a:pPr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 dirty="0"/>
              <a:t> Не оставляйте «висячие» предлоги, их нужно переносить на следующую строку. </a:t>
            </a:r>
          </a:p>
        </p:txBody>
      </p:sp>
      <p:sp>
        <p:nvSpPr>
          <p:cNvPr id="4" name="Объект 2">
            <a:extLst>
              <a:ext uri="{FF2B5EF4-FFF2-40B4-BE49-F238E27FC236}">
                <a16:creationId xmlns:a16="http://schemas.microsoft.com/office/drawing/2014/main" id="{0A31D99C-9EE7-7438-A8F6-8A255AD5CCD2}"/>
              </a:ext>
            </a:extLst>
          </p:cNvPr>
          <p:cNvSpPr txBox="1">
            <a:spLocks/>
          </p:cNvSpPr>
          <p:nvPr/>
        </p:nvSpPr>
        <p:spPr>
          <a:xfrm>
            <a:off x="4795120" y="1051995"/>
            <a:ext cx="2031707" cy="2920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buSzPct val="100000"/>
              <a:buFont typeface="Arial" panose="020B0604020202020204" pitchFamily="34" charset="0"/>
              <a:buNone/>
              <a:defRPr sz="2000" kern="1200" baseline="0">
                <a:solidFill>
                  <a:schemeClr val="tx1"/>
                </a:solidFill>
                <a:latin typeface="Golos Text" panose="020B0503020202020204" pitchFamily="34" charset="-52"/>
                <a:ea typeface="+mn-ea"/>
                <a:cs typeface="Golos Text" panose="020B0503020202020204" pitchFamily="34" charset="-52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Golos Text" panose="020B0503020202020204" pitchFamily="34" charset="-52"/>
                <a:ea typeface="+mn-ea"/>
                <a:cs typeface="Golos Text" panose="020B0503020202020204" pitchFamily="34" charset="-52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Golos Text" panose="020B0503020202020204" pitchFamily="34" charset="-52"/>
                <a:ea typeface="+mn-ea"/>
                <a:cs typeface="Golos Text" panose="020B0503020202020204" pitchFamily="34" charset="-52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Golos Text" panose="020B0503020202020204" pitchFamily="34" charset="-52"/>
                <a:ea typeface="+mn-ea"/>
                <a:cs typeface="Golos Text" panose="020B0503020202020204" pitchFamily="34" charset="-52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Golos Text" panose="020B0503020202020204" pitchFamily="34" charset="-52"/>
                <a:ea typeface="+mn-ea"/>
                <a:cs typeface="Golos Text" panose="020B0503020202020204" pitchFamily="34" charset="-52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000" i="1" dirty="0"/>
              <a:t>Пример оформления слайда:</a:t>
            </a:r>
          </a:p>
        </p:txBody>
      </p:sp>
      <p:pic>
        <p:nvPicPr>
          <p:cNvPr id="5" name="Рисунок 4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30100B6D-2EAC-D80B-983A-F420D977B3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5174" y="1344079"/>
            <a:ext cx="3247278" cy="1826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343328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F6E865-1779-C1D3-8C2B-CE6D381F74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600" dirty="0"/>
              <a:t>Рекомендации по оформлению слайдов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3251CB0-746D-A717-9B37-016B96D921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4328" y="974866"/>
            <a:ext cx="8253351" cy="257168"/>
          </a:xfrm>
        </p:spPr>
        <p:txBody>
          <a:bodyPr>
            <a:normAutofit lnSpcReduction="10000"/>
          </a:bodyPr>
          <a:lstStyle/>
          <a:p>
            <a:pPr>
              <a:spcBef>
                <a:spcPts val="0"/>
              </a:spcBef>
            </a:pPr>
            <a:r>
              <a:rPr lang="ru-RU" sz="1200" dirty="0"/>
              <a:t>В шаблоне презентации представлено несколько вариантов фонов.</a:t>
            </a:r>
          </a:p>
          <a:p>
            <a:pPr>
              <a:lnSpc>
                <a:spcPct val="110000"/>
              </a:lnSpc>
              <a:spcBef>
                <a:spcPts val="400"/>
              </a:spcBef>
            </a:pPr>
            <a:endParaRPr lang="ru-RU" sz="1800" dirty="0"/>
          </a:p>
        </p:txBody>
      </p:sp>
      <p:pic>
        <p:nvPicPr>
          <p:cNvPr id="11" name="Рисунок 10" descr="Изображение выглядит как стрела&#10;&#10;Автоматически созданное описание">
            <a:extLst>
              <a:ext uri="{FF2B5EF4-FFF2-40B4-BE49-F238E27FC236}">
                <a16:creationId xmlns:a16="http://schemas.microsoft.com/office/drawing/2014/main" id="{2CAC1882-B83E-E295-975B-04CCF92AD8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9265" y="2863302"/>
            <a:ext cx="1854220" cy="1060711"/>
          </a:xfrm>
          <a:prstGeom prst="rect">
            <a:avLst/>
          </a:prstGeom>
        </p:spPr>
      </p:pic>
      <p:pic>
        <p:nvPicPr>
          <p:cNvPr id="13" name="Рисунок 12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A0B55B04-6B68-F1FD-0C61-09A647061A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4138" y="2560072"/>
            <a:ext cx="1807636" cy="1049850"/>
          </a:xfrm>
          <a:prstGeom prst="rect">
            <a:avLst/>
          </a:prstGeom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6F1A216D-6E3A-375D-D799-488E9A5604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78657" y="3956648"/>
            <a:ext cx="1815042" cy="1040979"/>
          </a:xfrm>
          <a:prstGeom prst="rect">
            <a:avLst/>
          </a:prstGeom>
        </p:spPr>
      </p:pic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0386C1B8-7B5C-45A6-C667-01CB24B810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4545" y="3961949"/>
            <a:ext cx="1854220" cy="1063450"/>
          </a:xfrm>
          <a:prstGeom prst="rect">
            <a:avLst/>
          </a:prstGeom>
        </p:spPr>
      </p:pic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35F919F3-5767-C579-9FFB-76AF9EDFA2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2389" y="2232422"/>
            <a:ext cx="1806219" cy="1016439"/>
          </a:xfrm>
          <a:prstGeom prst="rect">
            <a:avLst/>
          </a:prstGeom>
        </p:spPr>
      </p:pic>
      <p:pic>
        <p:nvPicPr>
          <p:cNvPr id="34" name="Рисунок 33" descr="Изображение выглядит как текст, электроника, дисплей&#10;&#10;Автоматически созданное описание">
            <a:extLst>
              <a:ext uri="{FF2B5EF4-FFF2-40B4-BE49-F238E27FC236}">
                <a16:creationId xmlns:a16="http://schemas.microsoft.com/office/drawing/2014/main" id="{E9645F72-2EEB-F09D-15A0-B072862DA1D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771" y="1538719"/>
            <a:ext cx="2148725" cy="1247950"/>
          </a:xfrm>
          <a:prstGeom prst="rect">
            <a:avLst/>
          </a:prstGeom>
        </p:spPr>
      </p:pic>
      <p:pic>
        <p:nvPicPr>
          <p:cNvPr id="36" name="Рисунок 35">
            <a:extLst>
              <a:ext uri="{FF2B5EF4-FFF2-40B4-BE49-F238E27FC236}">
                <a16:creationId xmlns:a16="http://schemas.microsoft.com/office/drawing/2014/main" id="{97861AD1-B11F-2C41-6D57-28BBC7F374E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45045" y="2823712"/>
            <a:ext cx="1806218" cy="1014017"/>
          </a:xfrm>
          <a:prstGeom prst="rect">
            <a:avLst/>
          </a:prstGeom>
        </p:spPr>
      </p:pic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79ADAFAC-5582-2823-5477-B9FC9ED692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6533" y="2589779"/>
            <a:ext cx="1806219" cy="1016439"/>
          </a:xfrm>
          <a:prstGeom prst="rect">
            <a:avLst/>
          </a:prstGeom>
        </p:spPr>
      </p:pic>
      <p:pic>
        <p:nvPicPr>
          <p:cNvPr id="38" name="Рисунок 37">
            <a:extLst>
              <a:ext uri="{FF2B5EF4-FFF2-40B4-BE49-F238E27FC236}">
                <a16:creationId xmlns:a16="http://schemas.microsoft.com/office/drawing/2014/main" id="{AE4CC287-7E2C-12D7-7703-09A4F157F3A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15990" y="2093237"/>
            <a:ext cx="1806219" cy="1016439"/>
          </a:xfrm>
          <a:prstGeom prst="rect">
            <a:avLst/>
          </a:prstGeom>
        </p:spPr>
      </p:pic>
      <p:pic>
        <p:nvPicPr>
          <p:cNvPr id="39" name="Рисунок 38" descr="Изображение выглядит как текст, электроника, дисплей&#10;&#10;Автоматически созданное описание">
            <a:extLst>
              <a:ext uri="{FF2B5EF4-FFF2-40B4-BE49-F238E27FC236}">
                <a16:creationId xmlns:a16="http://schemas.microsoft.com/office/drawing/2014/main" id="{7F4F129D-D192-D5EC-4045-6FF69EE454F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49123" y="1502150"/>
            <a:ext cx="2148725" cy="1247950"/>
          </a:xfrm>
          <a:prstGeom prst="rect">
            <a:avLst/>
          </a:prstGeom>
        </p:spPr>
      </p:pic>
      <p:sp>
        <p:nvSpPr>
          <p:cNvPr id="40" name="Объект 2">
            <a:extLst>
              <a:ext uri="{FF2B5EF4-FFF2-40B4-BE49-F238E27FC236}">
                <a16:creationId xmlns:a16="http://schemas.microsoft.com/office/drawing/2014/main" id="{1142AB3C-C9FB-88F2-21DE-8C13C3A0649D}"/>
              </a:ext>
            </a:extLst>
          </p:cNvPr>
          <p:cNvSpPr txBox="1">
            <a:spLocks/>
          </p:cNvSpPr>
          <p:nvPr/>
        </p:nvSpPr>
        <p:spPr>
          <a:xfrm>
            <a:off x="430355" y="1239334"/>
            <a:ext cx="3377369" cy="2920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buSzPct val="100000"/>
              <a:buFont typeface="Arial" panose="020B0604020202020204" pitchFamily="34" charset="0"/>
              <a:buNone/>
              <a:defRPr sz="2000" kern="1200" baseline="0">
                <a:solidFill>
                  <a:schemeClr val="tx1"/>
                </a:solidFill>
                <a:latin typeface="Golos Text" panose="020B0503020202020204" pitchFamily="34" charset="-52"/>
                <a:ea typeface="+mn-ea"/>
                <a:cs typeface="Golos Text" panose="020B0503020202020204" pitchFamily="34" charset="-52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Golos Text" panose="020B0503020202020204" pitchFamily="34" charset="-52"/>
                <a:ea typeface="+mn-ea"/>
                <a:cs typeface="Golos Text" panose="020B0503020202020204" pitchFamily="34" charset="-52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Golos Text" panose="020B0503020202020204" pitchFamily="34" charset="-52"/>
                <a:ea typeface="+mn-ea"/>
                <a:cs typeface="Golos Text" panose="020B0503020202020204" pitchFamily="34" charset="-52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Golos Text" panose="020B0503020202020204" pitchFamily="34" charset="-52"/>
                <a:ea typeface="+mn-ea"/>
                <a:cs typeface="Golos Text" panose="020B0503020202020204" pitchFamily="34" charset="-52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Golos Text" panose="020B0503020202020204" pitchFamily="34" charset="-52"/>
                <a:ea typeface="+mn-ea"/>
                <a:cs typeface="Golos Text" panose="020B0503020202020204" pitchFamily="34" charset="-52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r>
              <a:rPr lang="ru-RU" sz="1200" dirty="0"/>
              <a:t>Их можно </a:t>
            </a:r>
            <a:r>
              <a:rPr lang="ru-RU" sz="1200" dirty="0" err="1"/>
              <a:t>миксовать</a:t>
            </a:r>
            <a:r>
              <a:rPr lang="ru-RU" sz="1200" dirty="0"/>
              <a:t>: </a:t>
            </a:r>
          </a:p>
        </p:txBody>
      </p:sp>
      <p:sp>
        <p:nvSpPr>
          <p:cNvPr id="41" name="Объект 2">
            <a:extLst>
              <a:ext uri="{FF2B5EF4-FFF2-40B4-BE49-F238E27FC236}">
                <a16:creationId xmlns:a16="http://schemas.microsoft.com/office/drawing/2014/main" id="{2CE85022-AA2F-E141-4234-EEBCC6A41382}"/>
              </a:ext>
            </a:extLst>
          </p:cNvPr>
          <p:cNvSpPr txBox="1">
            <a:spLocks/>
          </p:cNvSpPr>
          <p:nvPr/>
        </p:nvSpPr>
        <p:spPr>
          <a:xfrm>
            <a:off x="4385980" y="1216089"/>
            <a:ext cx="4251716" cy="29208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buSzPct val="100000"/>
              <a:buFont typeface="Arial" panose="020B0604020202020204" pitchFamily="34" charset="0"/>
              <a:buNone/>
              <a:defRPr sz="2000" kern="1200" baseline="0">
                <a:solidFill>
                  <a:schemeClr val="tx1"/>
                </a:solidFill>
                <a:latin typeface="Golos Text" panose="020B0503020202020204" pitchFamily="34" charset="-52"/>
                <a:ea typeface="+mn-ea"/>
                <a:cs typeface="Golos Text" panose="020B0503020202020204" pitchFamily="34" charset="-52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Golos Text" panose="020B0503020202020204" pitchFamily="34" charset="-52"/>
                <a:ea typeface="+mn-ea"/>
                <a:cs typeface="Golos Text" panose="020B0503020202020204" pitchFamily="34" charset="-52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Golos Text" panose="020B0503020202020204" pitchFamily="34" charset="-52"/>
                <a:ea typeface="+mn-ea"/>
                <a:cs typeface="Golos Text" panose="020B0503020202020204" pitchFamily="34" charset="-52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Golos Text" panose="020B0503020202020204" pitchFamily="34" charset="-52"/>
                <a:ea typeface="+mn-ea"/>
                <a:cs typeface="Golos Text" panose="020B0503020202020204" pitchFamily="34" charset="-52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Golos Text" panose="020B0503020202020204" pitchFamily="34" charset="-52"/>
                <a:ea typeface="+mn-ea"/>
                <a:cs typeface="Golos Text" panose="020B0503020202020204" pitchFamily="34" charset="-52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r>
              <a:rPr lang="ru-RU" sz="1200" dirty="0"/>
              <a:t>А можно выбрать один цвет для всей презентации:</a:t>
            </a:r>
          </a:p>
        </p:txBody>
      </p:sp>
    </p:spTree>
    <p:extLst>
      <p:ext uri="{BB962C8B-B14F-4D97-AF65-F5344CB8AC3E}">
        <p14:creationId xmlns:p14="http://schemas.microsoft.com/office/powerpoint/2010/main" val="403168581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134C1837-1767-690C-EEDD-0863FF186E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199" y="1005763"/>
            <a:ext cx="8347587" cy="2828482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 dirty="0"/>
              <a:t> Для того чтобы ваша презентация вызывала у аудитории эмоциональный отклик, используйте подходящие изображения.</a:t>
            </a:r>
          </a:p>
          <a:p>
            <a:pPr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 dirty="0"/>
              <a:t> Выбирайте фотографии только высокого разрешения.</a:t>
            </a:r>
          </a:p>
          <a:p>
            <a:pPr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 dirty="0"/>
              <a:t> Любые фотографии могут быть использованы в презентации только с соблюдением авторских прав.</a:t>
            </a:r>
          </a:p>
          <a:p>
            <a:pPr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 dirty="0">
                <a:latin typeface="Golos Text" panose="020B0503020202020204"/>
              </a:rPr>
              <a:t> </a:t>
            </a:r>
            <a:r>
              <a:rPr lang="ru-RU" sz="1200" dirty="0"/>
              <a:t>Таблицы и списки по возможности заменяйте инфографикой и диаграммами. Если же необходима таблица, то делайте ее максимально простой и понятной для аудитории.</a:t>
            </a:r>
          </a:p>
          <a:p>
            <a:pPr>
              <a:lnSpc>
                <a:spcPct val="110000"/>
              </a:lnSpc>
              <a:spcBef>
                <a:spcPts val="400"/>
              </a:spcBef>
            </a:pPr>
            <a:endParaRPr lang="ru-RU" sz="1200" dirty="0"/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578D7015-8078-E895-F588-5053D801C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/>
          <a:p>
            <a:r>
              <a:rPr lang="ru-RU" sz="2600" dirty="0"/>
              <a:t>Рекомендации по оформлению слайдов</a:t>
            </a:r>
          </a:p>
        </p:txBody>
      </p:sp>
    </p:spTree>
    <p:extLst>
      <p:ext uri="{BB962C8B-B14F-4D97-AF65-F5344CB8AC3E}">
        <p14:creationId xmlns:p14="http://schemas.microsoft.com/office/powerpoint/2010/main" val="35018288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1">
  <a:themeElements>
    <a:clrScheme name="Другая 1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Тема1" id="{4DAE9245-FD5C-48A3-9F61-0C8FFBFAE07A}" vid="{20E0B42B-372D-46F0-B56F-89DFAD950D3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5665</TotalTime>
  <Words>613</Words>
  <Application>Microsoft Macintosh PowerPoint</Application>
  <PresentationFormat>Экран (16:9)</PresentationFormat>
  <Paragraphs>118</Paragraphs>
  <Slides>34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34</vt:i4>
      </vt:variant>
    </vt:vector>
  </HeadingPairs>
  <TitlesOfParts>
    <vt:vector size="41" baseType="lpstr">
      <vt:lpstr>ALS Gorizont Bold Expanded</vt:lpstr>
      <vt:lpstr>Arial</vt:lpstr>
      <vt:lpstr>Calibri</vt:lpstr>
      <vt:lpstr>Golos Text</vt:lpstr>
      <vt:lpstr>Golos Text DemiBold</vt:lpstr>
      <vt:lpstr>Golos Text SemiBold</vt:lpstr>
      <vt:lpstr>Тема1</vt:lpstr>
      <vt:lpstr>Реинжиниринг сервиса интеграции автомобильных объявлений для повышения отказоустойчивости</vt:lpstr>
      <vt:lpstr>Актуальность темы</vt:lpstr>
      <vt:lpstr>Проблемы существующего решения</vt:lpstr>
      <vt:lpstr>Цели и задачи ВКР</vt:lpstr>
      <vt:lpstr>Бизнес-процесс</vt:lpstr>
      <vt:lpstr>Бизнес-процесс</vt:lpstr>
      <vt:lpstr>Бизнес-процесс</vt:lpstr>
      <vt:lpstr>Бизнес-процесс в Temporal</vt:lpstr>
      <vt:lpstr>Бизнес-процесс в Temporal</vt:lpstr>
      <vt:lpstr>Бизнес-процесс в Temporal</vt:lpstr>
      <vt:lpstr>Бизнес-процесс в Temporal</vt:lpstr>
      <vt:lpstr>Бизнес-процесс в Temporal</vt:lpstr>
      <vt:lpstr>Бизнес-процесс в Temporal</vt:lpstr>
      <vt:lpstr>Особенность платформы Temporal</vt:lpstr>
      <vt:lpstr>Ключевые технические решения</vt:lpstr>
      <vt:lpstr>Работа в боевом окружении</vt:lpstr>
      <vt:lpstr>Анализ разработанной системы</vt:lpstr>
      <vt:lpstr>Заключение</vt:lpstr>
      <vt:lpstr>Акт о внедрении</vt:lpstr>
      <vt:lpstr>Спасибо за внимание!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Спасибо за внимание!</vt:lpstr>
      <vt:lpstr>Рекомендации по оформлению слайдов</vt:lpstr>
      <vt:lpstr>Рекомендации по оформлению слайдов</vt:lpstr>
      <vt:lpstr>Рекомендации по оформлению слайдов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</dc:creator>
  <cp:lastModifiedBy>Сиразетдинов Азат Ниязович</cp:lastModifiedBy>
  <cp:revision>124</cp:revision>
  <dcterms:created xsi:type="dcterms:W3CDTF">2014-06-27T12:30:22Z</dcterms:created>
  <dcterms:modified xsi:type="dcterms:W3CDTF">2026-05-20T01:11:14Z</dcterms:modified>
</cp:coreProperties>
</file>