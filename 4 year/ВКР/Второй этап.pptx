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howSpecialPlsOnTitleSld="0" saveSubsetFonts="1" autoCompressPictures="0">
  <p:sldMasterIdLst>
    <p:sldMasterId id="2147483870" r:id="rId1"/>
  </p:sldMasterIdLst>
  <p:notesMasterIdLst>
    <p:notesMasterId r:id="rId23"/>
  </p:notesMasterIdLst>
  <p:handoutMasterIdLst>
    <p:handoutMasterId r:id="rId24"/>
  </p:handoutMasterIdLst>
  <p:sldIdLst>
    <p:sldId id="265" r:id="rId2"/>
    <p:sldId id="284" r:id="rId3"/>
    <p:sldId id="328" r:id="rId4"/>
    <p:sldId id="329" r:id="rId5"/>
    <p:sldId id="332" r:id="rId6"/>
    <p:sldId id="333" r:id="rId7"/>
    <p:sldId id="263" r:id="rId8"/>
    <p:sldId id="324" r:id="rId9"/>
    <p:sldId id="325" r:id="rId10"/>
    <p:sldId id="322" r:id="rId11"/>
    <p:sldId id="326" r:id="rId12"/>
    <p:sldId id="327" r:id="rId13"/>
    <p:sldId id="316" r:id="rId14"/>
    <p:sldId id="315" r:id="rId15"/>
    <p:sldId id="317" r:id="rId16"/>
    <p:sldId id="319" r:id="rId17"/>
    <p:sldId id="320" r:id="rId18"/>
    <p:sldId id="331" r:id="rId19"/>
    <p:sldId id="280" r:id="rId20"/>
    <p:sldId id="310" r:id="rId21"/>
    <p:sldId id="305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480" y="20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56227" y="2219325"/>
            <a:ext cx="7431543" cy="704850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Реинжиниринг сервиса интеграции автомобильных объявлений для повышения отказоустойчивости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Google Shape;137;p1">
            <a:extLst>
              <a:ext uri="{FF2B5EF4-FFF2-40B4-BE49-F238E27FC236}">
                <a16:creationId xmlns:a16="http://schemas.microsoft.com/office/drawing/2014/main" id="{263E487F-1E30-5E5F-3968-448A6B130DA3}"/>
              </a:ext>
            </a:extLst>
          </p:cNvPr>
          <p:cNvSpPr txBox="1">
            <a:spLocks/>
          </p:cNvSpPr>
          <p:nvPr/>
        </p:nvSpPr>
        <p:spPr>
          <a:xfrm>
            <a:off x="676799" y="3260491"/>
            <a:ext cx="7790400" cy="705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Студент: Сиразетдинов Азат Ниязович, </a:t>
            </a:r>
            <a:r>
              <a:rPr lang="en-US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P3416</a:t>
            </a:r>
          </a:p>
          <a:p>
            <a:pPr algn="ctr">
              <a:spcBef>
                <a:spcPts val="0"/>
              </a:spcBef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1600" b="0" dirty="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Руководитель: Логинов Иван Павлович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541812" cy="342366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Более 90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% 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автомобилей, продаваемых дилерскими </a:t>
            </a: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агенствами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на </a:t>
            </a: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Авто.ру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, загружаются с помощью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XML-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фидов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. Сервис интеграции данных должен обрабатывать большую нагрузку по обработке изменений объявлений (более 2 миллионов автомобилей в сутки)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Те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к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ущая реализация ненадежна и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,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как показали учения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,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при потере инстансов в 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датацентре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теряются 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фиды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из обработки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i="0" dirty="0" err="1">
                <a:solidFill>
                  <a:srgbClr val="2C2D2E"/>
                </a:solidFill>
                <a:effectLst/>
                <a:latin typeface="Golos Text" panose="020B0503020202020204"/>
              </a:rPr>
              <a:t>Оркестрация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использованием системы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набирает огромную популярность среди разработчиков</a:t>
            </a:r>
            <a:endParaRPr lang="ru-RU" sz="18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47B1-7F35-795F-FD69-BBE4A32E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74FB6-BA01-B8FF-53E2-F599961F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Цели и задачи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5AB96-E686-F176-35A9-3112681739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solidFill>
                  <a:srgbClr val="2C2D2E"/>
                </a:solidFill>
                <a:latin typeface="Golos Text" panose="020B0503020202020204"/>
              </a:rPr>
              <a:t>Цель: 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Увеличение надежности и наблюдаемости выкладки автомобильных объявлений</a:t>
            </a:r>
            <a:endParaRPr lang="en-US" sz="18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В рамках работы необходимо: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Провести анализ проблем существующего решения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Разработать программный компонент конвертации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XML-</a:t>
            </a:r>
            <a:r>
              <a:rPr lang="ru-RU" sz="1800" dirty="0" err="1">
                <a:solidFill>
                  <a:srgbClr val="2C2D2E"/>
                </a:solidFill>
                <a:latin typeface="Golos Text" panose="020B0503020202020204"/>
              </a:rPr>
              <a:t>фидов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 с использованием технологии </a:t>
            </a:r>
            <a:r>
              <a:rPr lang="en-US" sz="1800" dirty="0">
                <a:solidFill>
                  <a:srgbClr val="2C2D2E"/>
                </a:solidFill>
                <a:latin typeface="Golos Text" panose="020B0503020202020204"/>
              </a:rPr>
              <a:t>Temporal</a:t>
            </a: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, без изменения функциональных требований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Провести интеграционное тестирование и сравнение двух реализаций</a:t>
            </a:r>
          </a:p>
        </p:txBody>
      </p:sp>
    </p:spTree>
    <p:extLst>
      <p:ext uri="{BB962C8B-B14F-4D97-AF65-F5344CB8AC3E}">
        <p14:creationId xmlns:p14="http://schemas.microsoft.com/office/powerpoint/2010/main" val="375930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036B-38AD-C437-06FF-B5F8552D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23A53-ADDA-3567-016E-D62FF0F8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Что сделано на текущий момент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908EF-9FB0-0A98-BFC8-2EEB99C4D9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Сформировано техническое задание на сервис интеграции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Разработан программный компонент, протестирован и введен в эксплуатацию</a:t>
            </a:r>
          </a:p>
        </p:txBody>
      </p:sp>
    </p:spTree>
    <p:extLst>
      <p:ext uri="{BB962C8B-B14F-4D97-AF65-F5344CB8AC3E}">
        <p14:creationId xmlns:p14="http://schemas.microsoft.com/office/powerpoint/2010/main" val="364709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9DDA9-BD25-716A-CC88-C4EEACA9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A9145-A511-B1BF-0527-80618A17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Структура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55AF73-5CDF-391C-D82A-11867E381D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ТЕОРЕТИЧЕСКИЙ ОБЗОР</a:t>
            </a:r>
          </a:p>
          <a:p>
            <a:pPr marL="1085850" lvl="1" indent="-342900">
              <a:buAutoNum type="arabicParenR"/>
            </a:pPr>
            <a:r>
              <a:rPr lang="ru-RU" sz="1600" i="0" dirty="0">
                <a:solidFill>
                  <a:srgbClr val="2C2D2E"/>
                </a:solidFill>
                <a:effectLst/>
                <a:latin typeface="Golos Text" panose="020B0503020202020204"/>
              </a:rPr>
              <a:t>Актуальность и практическая значимость</a:t>
            </a:r>
          </a:p>
          <a:p>
            <a:pPr marL="1085850" lvl="1" indent="-342900">
              <a:buAutoNum type="arabicParenR"/>
            </a:pPr>
            <a:r>
              <a:rPr lang="ru-RU" sz="1600" i="0" dirty="0">
                <a:solidFill>
                  <a:srgbClr val="2C2D2E"/>
                </a:solidFill>
                <a:effectLst/>
                <a:latin typeface="Golos Text" panose="020B0503020202020204"/>
              </a:rPr>
              <a:t>Платформы оркестрации данных</a:t>
            </a:r>
            <a:endParaRPr lang="ru-RU" sz="1600" dirty="0">
              <a:solidFill>
                <a:srgbClr val="2C2D2E"/>
              </a:solidFill>
              <a:latin typeface="Golos Text" panose="020B0503020202020204"/>
            </a:endParaRPr>
          </a:p>
          <a:p>
            <a:pPr marL="342900" indent="-342900">
              <a:buAutoNum type="arabicParenR"/>
            </a:pPr>
            <a:r>
              <a:rPr lang="ru-RU" sz="1800" i="0" dirty="0">
                <a:solidFill>
                  <a:srgbClr val="2C2D2E"/>
                </a:solidFill>
                <a:effectLst/>
                <a:latin typeface="Golos Text" panose="020B0503020202020204"/>
              </a:rPr>
              <a:t>ПРОЕКТИРОВАНИЕ И РАЗРАБОТКА РЕШЕНИЕ</a:t>
            </a:r>
          </a:p>
          <a:p>
            <a:pPr marL="1085850" lvl="1" indent="-342900">
              <a:buAutoNum type="arabicParenR"/>
            </a:pPr>
            <a:r>
              <a:rPr lang="ru-RU" sz="1400" i="0" dirty="0">
                <a:solidFill>
                  <a:srgbClr val="2C2D2E"/>
                </a:solidFill>
                <a:effectLst/>
                <a:latin typeface="Golos Text" panose="020B0503020202020204"/>
              </a:rPr>
              <a:t>Анализ функциональности существующего решения</a:t>
            </a:r>
          </a:p>
          <a:p>
            <a:pPr marL="1085850" lvl="1" indent="-342900">
              <a:buAutoNum type="arabicParenR"/>
            </a:pPr>
            <a:r>
              <a:rPr lang="ru-RU" sz="1400" i="0" dirty="0">
                <a:solidFill>
                  <a:srgbClr val="2C2D2E"/>
                </a:solidFill>
                <a:effectLst/>
                <a:latin typeface="Golos Text" panose="020B0503020202020204"/>
              </a:rPr>
              <a:t>Разработка интеграции в систему </a:t>
            </a:r>
            <a:r>
              <a:rPr lang="en-US" sz="1400" i="0" dirty="0">
                <a:solidFill>
                  <a:srgbClr val="2C2D2E"/>
                </a:solidFill>
                <a:effectLst/>
                <a:latin typeface="Golos Text" panose="020B0503020202020204"/>
              </a:rPr>
              <a:t>Temporal</a:t>
            </a:r>
          </a:p>
          <a:p>
            <a:pPr marL="1085850" lvl="1" indent="-342900">
              <a:buAutoNum type="arabicParenR"/>
            </a:pPr>
            <a:r>
              <a:rPr lang="ru-RU" sz="1400" dirty="0">
                <a:solidFill>
                  <a:srgbClr val="2C2D2E"/>
                </a:solidFill>
                <a:latin typeface="Golos Text" panose="020B0503020202020204"/>
              </a:rPr>
              <a:t>Разработка основной функциональности</a:t>
            </a:r>
          </a:p>
          <a:p>
            <a:pPr marL="1085850" lvl="1" indent="-342900">
              <a:buAutoNum type="arabicParenR"/>
            </a:pPr>
            <a:r>
              <a:rPr lang="ru-RU" sz="1400" dirty="0">
                <a:solidFill>
                  <a:srgbClr val="2C2D2E"/>
                </a:solidFill>
                <a:latin typeface="Golos Text" panose="020B0503020202020204"/>
              </a:rPr>
              <a:t>Механизм повторных исполнений задач</a:t>
            </a:r>
          </a:p>
          <a:p>
            <a:pPr marL="1085850" lvl="1" indent="-342900">
              <a:buAutoNum type="arabicParenR"/>
            </a:pPr>
            <a:r>
              <a:rPr lang="ru-RU" sz="1400" dirty="0">
                <a:solidFill>
                  <a:srgbClr val="2C2D2E"/>
                </a:solidFill>
                <a:latin typeface="Golos Text" panose="020B0503020202020204"/>
              </a:rPr>
              <a:t>Механизм пакетной обработки</a:t>
            </a:r>
          </a:p>
          <a:p>
            <a:pPr marL="1085850" lvl="1" indent="-342900">
              <a:buAutoNum type="arabicParenR"/>
            </a:pPr>
            <a:r>
              <a:rPr lang="ru-RU" sz="1400" dirty="0">
                <a:solidFill>
                  <a:srgbClr val="2C2D2E"/>
                </a:solidFill>
                <a:latin typeface="Golos Text" panose="020B0503020202020204"/>
              </a:rPr>
              <a:t>Механизм проведения интеграционного тестирования</a:t>
            </a:r>
          </a:p>
          <a:p>
            <a:pPr marL="1085850" lvl="1" indent="-342900">
              <a:buAutoNum type="arabicParenR"/>
            </a:pPr>
            <a:endParaRPr lang="ru-RU" sz="140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4897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0D36-486E-F1C4-6134-C99819F1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AB731-3309-39B7-7A65-8BCA8982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Структура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EE5F3E-30A4-55B2-0468-59D48DCC83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00050" lvl="1" indent="0">
              <a:buNone/>
            </a:pPr>
            <a:r>
              <a:rPr lang="ru-RU" sz="1800" dirty="0">
                <a:solidFill>
                  <a:srgbClr val="2C2D2E"/>
                </a:solidFill>
                <a:latin typeface="Golos Text" panose="020B0503020202020204"/>
              </a:rPr>
              <a:t>3) ОЦЕНКА ЭФФЕКТИВНОСТИ РЕШЕНИЯ</a:t>
            </a:r>
          </a:p>
          <a:p>
            <a:pPr marL="1485900" lvl="2" indent="-342900">
              <a:buFont typeface="Arial" panose="020B0604020202020204" pitchFamily="34" charset="0"/>
              <a:buAutoNum type="arabicParenR"/>
            </a:pPr>
            <a:r>
              <a:rPr lang="ru-RU" sz="1600" dirty="0">
                <a:solidFill>
                  <a:srgbClr val="2C2D2E"/>
                </a:solidFill>
                <a:latin typeface="Golos Text" panose="020B0503020202020204"/>
              </a:rPr>
              <a:t>Профилирование </a:t>
            </a:r>
          </a:p>
          <a:p>
            <a:pPr marL="1485900" lvl="2" indent="-342900">
              <a:buFont typeface="Arial" panose="020B0604020202020204" pitchFamily="34" charset="0"/>
              <a:buAutoNum type="arabicParenR"/>
            </a:pPr>
            <a:r>
              <a:rPr lang="ru-RU" sz="1600" dirty="0">
                <a:solidFill>
                  <a:srgbClr val="2C2D2E"/>
                </a:solidFill>
                <a:latin typeface="Golos Text" panose="020B0503020202020204"/>
              </a:rPr>
              <a:t>Сравнение надежности во время учений</a:t>
            </a:r>
            <a:endParaRPr lang="ru-RU" sz="1800" dirty="0">
              <a:solidFill>
                <a:srgbClr val="2C2D2E"/>
              </a:solidFill>
              <a:latin typeface="Golos Text" panose="020B05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83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F00B-44C4-A9A6-336D-5B222144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C0915-3C9E-B678-5CAD-719955CF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4FD5B4-DE07-9386-5C01-45B27A757E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6958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55CAB40C-5337-8BF0-0625-E685F899A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924" b="5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7C397-FDBA-8489-4F8A-3A2077AC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5BF5-5CD8-E220-1E0D-2411C8DC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B2883-4C5A-3242-F253-14BC8ABF3CEB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2442718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87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5458</TotalTime>
  <Words>418</Words>
  <Application>Microsoft Macintosh PowerPoint</Application>
  <PresentationFormat>Экран (16:9)</PresentationFormat>
  <Paragraphs>56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ALS Gorizont Bold Expanded</vt:lpstr>
      <vt:lpstr>Arial</vt:lpstr>
      <vt:lpstr>Calibri</vt:lpstr>
      <vt:lpstr>Golos Text</vt:lpstr>
      <vt:lpstr>Golos Text DemiBold</vt:lpstr>
      <vt:lpstr>Golos Text SemiBold</vt:lpstr>
      <vt:lpstr>Тема1</vt:lpstr>
      <vt:lpstr>Реинжиниринг сервиса интеграции автомобильных объявлений для повышения отказоустойчивости</vt:lpstr>
      <vt:lpstr>Актуальность темы</vt:lpstr>
      <vt:lpstr>Цели и задачи ВКР</vt:lpstr>
      <vt:lpstr>Что сделано на текущий момент</vt:lpstr>
      <vt:lpstr>Структура работы</vt:lpstr>
      <vt:lpstr>Структура работы</vt:lpstr>
      <vt:lpstr>Спасибо за внимание!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Сиразетдинов Азат Ниязович</cp:lastModifiedBy>
  <cp:revision>123</cp:revision>
  <dcterms:created xsi:type="dcterms:W3CDTF">2014-06-27T12:30:22Z</dcterms:created>
  <dcterms:modified xsi:type="dcterms:W3CDTF">2026-05-19T21:44:08Z</dcterms:modified>
</cp:coreProperties>
</file>