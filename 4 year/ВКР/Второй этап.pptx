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2" showSpecialPlsOnTitleSld="0" saveSubsetFonts="1" autoCompressPictures="0">
  <p:sldMasterIdLst>
    <p:sldMasterId id="2147483870" r:id="rId1"/>
  </p:sldMasterIdLst>
  <p:notesMasterIdLst>
    <p:notesMasterId r:id="rId23"/>
  </p:notesMasterIdLst>
  <p:handoutMasterIdLst>
    <p:handoutMasterId r:id="rId24"/>
  </p:handoutMasterIdLst>
  <p:sldIdLst>
    <p:sldId id="265" r:id="rId2"/>
    <p:sldId id="284" r:id="rId3"/>
    <p:sldId id="328" r:id="rId4"/>
    <p:sldId id="329" r:id="rId5"/>
    <p:sldId id="332" r:id="rId6"/>
    <p:sldId id="333" r:id="rId7"/>
    <p:sldId id="263" r:id="rId8"/>
    <p:sldId id="324" r:id="rId9"/>
    <p:sldId id="325" r:id="rId10"/>
    <p:sldId id="322" r:id="rId11"/>
    <p:sldId id="326" r:id="rId12"/>
    <p:sldId id="327" r:id="rId13"/>
    <p:sldId id="316" r:id="rId14"/>
    <p:sldId id="315" r:id="rId15"/>
    <p:sldId id="317" r:id="rId16"/>
    <p:sldId id="319" r:id="rId17"/>
    <p:sldId id="320" r:id="rId18"/>
    <p:sldId id="331" r:id="rId19"/>
    <p:sldId id="280" r:id="rId20"/>
    <p:sldId id="310" r:id="rId21"/>
    <p:sldId id="305" r:id="rId2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07" autoAdjust="0"/>
    <p:restoredTop sz="94694" autoAdjust="0"/>
  </p:normalViewPr>
  <p:slideViewPr>
    <p:cSldViewPr snapToGrid="0" snapToObjects="1" showGuides="1">
      <p:cViewPr>
        <p:scale>
          <a:sx n="123" d="100"/>
          <a:sy n="123" d="100"/>
        </p:scale>
        <p:origin x="1608" y="808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"/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"/><Relationship Id="rId1" Type="http://schemas.openxmlformats.org/officeDocument/2006/relationships/slideLayout" Target="../slideLayouts/slideLayout2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g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856227" y="2219325"/>
            <a:ext cx="7431543" cy="704850"/>
          </a:xfrm>
        </p:spPr>
        <p:txBody>
          <a:bodyPr>
            <a:no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</a:rPr>
              <a:t>Реинжиниринг сервиса интеграции автомобильных объявлений для повышения отказоустойчивости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" name="Google Shape;137;p1">
            <a:extLst>
              <a:ext uri="{FF2B5EF4-FFF2-40B4-BE49-F238E27FC236}">
                <a16:creationId xmlns:a16="http://schemas.microsoft.com/office/drawing/2014/main" id="{263E487F-1E30-5E5F-3968-448A6B130DA3}"/>
              </a:ext>
            </a:extLst>
          </p:cNvPr>
          <p:cNvSpPr txBox="1">
            <a:spLocks/>
          </p:cNvSpPr>
          <p:nvPr/>
        </p:nvSpPr>
        <p:spPr>
          <a:xfrm>
            <a:off x="676799" y="3260491"/>
            <a:ext cx="7790400" cy="705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b="1" i="0" kern="1200" baseline="0">
                <a:solidFill>
                  <a:schemeClr val="tx1"/>
                </a:solidFill>
                <a:latin typeface="Golos Text DemiBold" panose="020B0703020202020204" pitchFamily="34" charset="-52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4400"/>
              <a:buFont typeface="Golos Text SemiBold"/>
              <a:buNone/>
            </a:pPr>
            <a:r>
              <a:rPr lang="ru-RU" sz="1600" b="0" dirty="0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Студент: Сиразетдинов Азат Ниязович, </a:t>
            </a:r>
            <a:r>
              <a:rPr lang="en-US" sz="1600" b="0" dirty="0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P3416</a:t>
            </a:r>
          </a:p>
          <a:p>
            <a:pPr algn="ctr">
              <a:spcBef>
                <a:spcPts val="0"/>
              </a:spcBef>
              <a:buClr>
                <a:schemeClr val="lt1"/>
              </a:buClr>
              <a:buSzPts val="4400"/>
              <a:buFont typeface="Golos Text SemiBold"/>
              <a:buNone/>
            </a:pPr>
            <a:r>
              <a:rPr lang="ru-RU" sz="1600" b="0" dirty="0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Руководитель: Логинов Иван Павлович</a:t>
            </a: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11943"/>
            <a:ext cx="7541812" cy="342366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Более 90</a:t>
            </a:r>
            <a:r>
              <a:rPr lang="en-US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% 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автомобилей, продаваемых дилерскими </a:t>
            </a:r>
            <a:r>
              <a:rPr lang="ru-RU" sz="1800" b="0" i="0" dirty="0" err="1">
                <a:solidFill>
                  <a:srgbClr val="2C2D2E"/>
                </a:solidFill>
                <a:effectLst/>
                <a:latin typeface="Golos Text" panose="020B0503020202020204"/>
              </a:rPr>
              <a:t>агенствами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на </a:t>
            </a:r>
            <a:r>
              <a:rPr lang="ru-RU" sz="1800" b="0" i="0" dirty="0" err="1">
                <a:solidFill>
                  <a:srgbClr val="2C2D2E"/>
                </a:solidFill>
                <a:effectLst/>
                <a:latin typeface="Golos Text" panose="020B0503020202020204"/>
              </a:rPr>
              <a:t>Авто.ру</a:t>
            </a: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, загружаются с помощью </a:t>
            </a:r>
            <a:r>
              <a:rPr lang="en-US" sz="1800" dirty="0">
                <a:solidFill>
                  <a:srgbClr val="2C2D2E"/>
                </a:solidFill>
                <a:latin typeface="Golos Text" panose="020B0503020202020204"/>
              </a:rPr>
              <a:t>XML-</a:t>
            </a:r>
            <a:r>
              <a:rPr lang="ru-RU" sz="1800" dirty="0" err="1">
                <a:solidFill>
                  <a:srgbClr val="2C2D2E"/>
                </a:solidFill>
                <a:latin typeface="Golos Text" panose="020B0503020202020204"/>
              </a:rPr>
              <a:t>фидов</a:t>
            </a: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. Сервис интеграции данных должен обрабатывать большую нагрузку по обработке изменений объявлений (более 2 миллионов автомобилей в сутки)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Те</a:t>
            </a: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к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ущая реализация ненадежна и</a:t>
            </a:r>
            <a:r>
              <a:rPr lang="en-US" sz="1800" dirty="0">
                <a:solidFill>
                  <a:srgbClr val="2C2D2E"/>
                </a:solidFill>
                <a:latin typeface="Golos Text" panose="020B0503020202020204"/>
              </a:rPr>
              <a:t>,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как показали учения</a:t>
            </a:r>
            <a:r>
              <a:rPr lang="en-US" sz="1800" dirty="0">
                <a:solidFill>
                  <a:srgbClr val="2C2D2E"/>
                </a:solidFill>
                <a:latin typeface="Golos Text" panose="020B0503020202020204"/>
              </a:rPr>
              <a:t>, </a:t>
            </a: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при потере инстансов в </a:t>
            </a:r>
            <a:r>
              <a:rPr lang="ru-RU" sz="1800" dirty="0" err="1">
                <a:solidFill>
                  <a:srgbClr val="2C2D2E"/>
                </a:solidFill>
                <a:latin typeface="Golos Text" panose="020B0503020202020204"/>
              </a:rPr>
              <a:t>датацентре</a:t>
            </a: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 теряются </a:t>
            </a:r>
            <a:r>
              <a:rPr lang="ru-RU" sz="1800" dirty="0" err="1">
                <a:solidFill>
                  <a:srgbClr val="2C2D2E"/>
                </a:solidFill>
                <a:latin typeface="Golos Text" panose="020B0503020202020204"/>
              </a:rPr>
              <a:t>фиды</a:t>
            </a: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 из обработки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b="0" i="0" dirty="0" err="1">
                <a:solidFill>
                  <a:srgbClr val="2C2D2E"/>
                </a:solidFill>
                <a:effectLst/>
                <a:latin typeface="Golos Text" panose="020B0503020202020204"/>
              </a:rPr>
              <a:t>Оркестрация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 </a:t>
            </a: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использованием системы </a:t>
            </a:r>
            <a:r>
              <a:rPr lang="en-US" sz="1800" dirty="0">
                <a:solidFill>
                  <a:srgbClr val="2C2D2E"/>
                </a:solidFill>
                <a:latin typeface="Golos Text" panose="020B0503020202020204"/>
              </a:rPr>
              <a:t>Temporal </a:t>
            </a: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набирает огромную популярность среди разработчиков</a:t>
            </a:r>
            <a:endParaRPr lang="ru-RU" sz="18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547B1-7F35-795F-FD69-BBE4A32E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874FB6-BA01-B8FF-53E2-F599961F0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Цели и задачи ВКР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55AB96-E686-F176-35A9-3112681739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1800" b="1" dirty="0">
                <a:solidFill>
                  <a:srgbClr val="2C2D2E"/>
                </a:solidFill>
                <a:latin typeface="Golos Text" panose="020B0503020202020204"/>
              </a:rPr>
              <a:t>Цель: </a:t>
            </a: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Увеличение надежности и наблюдаемости выкладки автомобильных объявлений</a:t>
            </a:r>
            <a:endParaRPr lang="en-US" sz="18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В рамках работы необходимо: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2C2D2E"/>
                </a:solidFill>
                <a:effectLst/>
                <a:latin typeface="Golos Text" panose="020B0503020202020204"/>
              </a:rPr>
              <a:t>Провести анализ проблем существующего решения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Разработать программный компонент конвертации </a:t>
            </a:r>
            <a:r>
              <a:rPr lang="en-US" sz="1800" dirty="0">
                <a:solidFill>
                  <a:srgbClr val="2C2D2E"/>
                </a:solidFill>
                <a:latin typeface="Golos Text" panose="020B0503020202020204"/>
              </a:rPr>
              <a:t>XML-</a:t>
            </a:r>
            <a:r>
              <a:rPr lang="ru-RU" sz="1800" dirty="0" err="1">
                <a:solidFill>
                  <a:srgbClr val="2C2D2E"/>
                </a:solidFill>
                <a:latin typeface="Golos Text" panose="020B0503020202020204"/>
              </a:rPr>
              <a:t>фидов</a:t>
            </a: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 с использованием технологии </a:t>
            </a:r>
            <a:r>
              <a:rPr lang="en-US" sz="1800" dirty="0">
                <a:solidFill>
                  <a:srgbClr val="2C2D2E"/>
                </a:solidFill>
                <a:latin typeface="Golos Text" panose="020B0503020202020204"/>
              </a:rPr>
              <a:t>Temporal</a:t>
            </a: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, без изменения функциональных требований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2C2D2E"/>
                </a:solidFill>
                <a:effectLst/>
                <a:latin typeface="Golos Text" panose="020B0503020202020204"/>
              </a:rPr>
              <a:t>Провести интеграционное тестирование и сравнение двух реализаций</a:t>
            </a:r>
          </a:p>
        </p:txBody>
      </p:sp>
    </p:spTree>
    <p:extLst>
      <p:ext uri="{BB962C8B-B14F-4D97-AF65-F5344CB8AC3E}">
        <p14:creationId xmlns:p14="http://schemas.microsoft.com/office/powerpoint/2010/main" val="3759306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1036B-38AD-C437-06FF-B5F8552DA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D23A53-ADDA-3567-016E-D62FF0F8F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Что сделано на текущий момент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2908EF-9FB0-0A98-BFC8-2EEB99C4D9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2C2D2E"/>
                </a:solidFill>
                <a:effectLst/>
                <a:latin typeface="Golos Text" panose="020B0503020202020204"/>
              </a:rPr>
              <a:t>Сформировано техническое задание на сервис интеграции 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2C2D2E"/>
                </a:solidFill>
                <a:effectLst/>
                <a:latin typeface="Golos Text" panose="020B0503020202020204"/>
              </a:rPr>
              <a:t>Разработан программный компонент, протестирован и введен в эксплуатацию</a:t>
            </a:r>
          </a:p>
        </p:txBody>
      </p:sp>
    </p:spTree>
    <p:extLst>
      <p:ext uri="{BB962C8B-B14F-4D97-AF65-F5344CB8AC3E}">
        <p14:creationId xmlns:p14="http://schemas.microsoft.com/office/powerpoint/2010/main" val="3647092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9DDA9-BD25-716A-CC88-C4EEACA9D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8A9145-A511-B1BF-0527-80618A174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Структура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A55AF73-5CDF-391C-D82A-11867E381D5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342900" indent="-342900">
              <a:buAutoNum type="arabicParenR"/>
            </a:pPr>
            <a:r>
              <a:rPr lang="ru-RU" sz="1800" i="0" dirty="0">
                <a:solidFill>
                  <a:srgbClr val="2C2D2E"/>
                </a:solidFill>
                <a:effectLst/>
                <a:latin typeface="Golos Text" panose="020B0503020202020204"/>
              </a:rPr>
              <a:t>ТЕОРЕТИЧЕСКИЙ ОБЗОР</a:t>
            </a:r>
          </a:p>
          <a:p>
            <a:pPr marL="1085850" lvl="1" indent="-342900">
              <a:buAutoNum type="arabicParenR"/>
            </a:pPr>
            <a:r>
              <a:rPr lang="ru-RU" sz="1600" i="0" dirty="0">
                <a:solidFill>
                  <a:srgbClr val="2C2D2E"/>
                </a:solidFill>
                <a:effectLst/>
                <a:latin typeface="Golos Text" panose="020B0503020202020204"/>
              </a:rPr>
              <a:t>Актуальность и практическая значимость</a:t>
            </a:r>
          </a:p>
          <a:p>
            <a:pPr marL="1085850" lvl="1" indent="-342900">
              <a:buAutoNum type="arabicParenR"/>
            </a:pPr>
            <a:r>
              <a:rPr lang="ru-RU" sz="1600" i="0" dirty="0">
                <a:solidFill>
                  <a:srgbClr val="2C2D2E"/>
                </a:solidFill>
                <a:effectLst/>
                <a:latin typeface="Golos Text" panose="020B0503020202020204"/>
              </a:rPr>
              <a:t>Платформы оркестрации данных</a:t>
            </a:r>
            <a:endParaRPr lang="ru-RU" sz="1600" dirty="0">
              <a:solidFill>
                <a:srgbClr val="2C2D2E"/>
              </a:solidFill>
              <a:latin typeface="Golos Text" panose="020B0503020202020204"/>
            </a:endParaRPr>
          </a:p>
          <a:p>
            <a:pPr marL="342900" indent="-342900">
              <a:buAutoNum type="arabicParenR"/>
            </a:pPr>
            <a:r>
              <a:rPr lang="ru-RU" sz="1800" i="0" dirty="0">
                <a:solidFill>
                  <a:srgbClr val="2C2D2E"/>
                </a:solidFill>
                <a:effectLst/>
                <a:latin typeface="Golos Text" panose="020B0503020202020204"/>
              </a:rPr>
              <a:t>ПРОЕКТИРОВАНИЕ И РАЗРАБОТКА РЕШЕНИЕ</a:t>
            </a:r>
          </a:p>
          <a:p>
            <a:pPr marL="1085850" lvl="1" indent="-342900">
              <a:buAutoNum type="arabicParenR"/>
            </a:pPr>
            <a:r>
              <a:rPr lang="ru-RU" sz="1400" i="0" dirty="0">
                <a:solidFill>
                  <a:srgbClr val="2C2D2E"/>
                </a:solidFill>
                <a:effectLst/>
                <a:latin typeface="Golos Text" panose="020B0503020202020204"/>
              </a:rPr>
              <a:t>Анализ функциональности существующего решения</a:t>
            </a:r>
          </a:p>
          <a:p>
            <a:pPr marL="1085850" lvl="1" indent="-342900">
              <a:buAutoNum type="arabicParenR"/>
            </a:pPr>
            <a:r>
              <a:rPr lang="ru-RU" sz="1400" i="0" dirty="0">
                <a:solidFill>
                  <a:srgbClr val="2C2D2E"/>
                </a:solidFill>
                <a:effectLst/>
                <a:latin typeface="Golos Text" panose="020B0503020202020204"/>
              </a:rPr>
              <a:t>Разработка интеграции в систему </a:t>
            </a:r>
            <a:r>
              <a:rPr lang="en-US" sz="1400" i="0" dirty="0">
                <a:solidFill>
                  <a:srgbClr val="2C2D2E"/>
                </a:solidFill>
                <a:effectLst/>
                <a:latin typeface="Golos Text" panose="020B0503020202020204"/>
              </a:rPr>
              <a:t>Temporal</a:t>
            </a:r>
          </a:p>
          <a:p>
            <a:pPr marL="1085850" lvl="1" indent="-342900">
              <a:buAutoNum type="arabicParenR"/>
            </a:pPr>
            <a:r>
              <a:rPr lang="ru-RU" sz="1400" dirty="0">
                <a:solidFill>
                  <a:srgbClr val="2C2D2E"/>
                </a:solidFill>
                <a:latin typeface="Golos Text" panose="020B0503020202020204"/>
              </a:rPr>
              <a:t>Разработка основной функциональности</a:t>
            </a:r>
          </a:p>
          <a:p>
            <a:pPr marL="1085850" lvl="1" indent="-342900">
              <a:buAutoNum type="arabicParenR"/>
            </a:pPr>
            <a:r>
              <a:rPr lang="ru-RU" sz="1400" dirty="0">
                <a:solidFill>
                  <a:srgbClr val="2C2D2E"/>
                </a:solidFill>
                <a:latin typeface="Golos Text" panose="020B0503020202020204"/>
              </a:rPr>
              <a:t>Механизм повторных исполнений задач</a:t>
            </a:r>
          </a:p>
          <a:p>
            <a:pPr marL="1085850" lvl="1" indent="-342900">
              <a:buAutoNum type="arabicParenR"/>
            </a:pPr>
            <a:r>
              <a:rPr lang="ru-RU" sz="1400" dirty="0">
                <a:solidFill>
                  <a:srgbClr val="2C2D2E"/>
                </a:solidFill>
                <a:latin typeface="Golos Text" panose="020B0503020202020204"/>
              </a:rPr>
              <a:t>Механизм пакетной обработки</a:t>
            </a:r>
          </a:p>
          <a:p>
            <a:pPr marL="1085850" lvl="1" indent="-342900">
              <a:buAutoNum type="arabicParenR"/>
            </a:pPr>
            <a:r>
              <a:rPr lang="ru-RU" sz="1400" dirty="0">
                <a:solidFill>
                  <a:srgbClr val="2C2D2E"/>
                </a:solidFill>
                <a:latin typeface="Golos Text" panose="020B0503020202020204"/>
              </a:rPr>
              <a:t>Механизм проведения интеграционного тестирования</a:t>
            </a:r>
          </a:p>
          <a:p>
            <a:pPr marL="1085850" lvl="1" indent="-342900">
              <a:buAutoNum type="arabicParenR"/>
            </a:pPr>
            <a:endParaRPr lang="ru-RU" sz="140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148978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50D36-486E-F1C4-6134-C99819F19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1AB731-3309-39B7-7A65-8BCA89828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Структура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EE5F3E-30A4-55B2-0468-59D48DCC83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400050" lvl="1" indent="0">
              <a:buNone/>
            </a:pPr>
            <a:r>
              <a:rPr lang="ru-RU" sz="1800" dirty="0">
                <a:solidFill>
                  <a:srgbClr val="2C2D2E"/>
                </a:solidFill>
                <a:latin typeface="Golos Text" panose="020B0503020202020204"/>
              </a:rPr>
              <a:t>3) ОЦЕНКА ЭФФЕКТИВНОСТИ РЕШЕНИЯ</a:t>
            </a:r>
          </a:p>
          <a:p>
            <a:pPr marL="1485900" lvl="2" indent="-342900">
              <a:buFont typeface="Arial" panose="020B0604020202020204" pitchFamily="34" charset="0"/>
              <a:buAutoNum type="arabicParenR"/>
            </a:pPr>
            <a:r>
              <a:rPr lang="ru-RU" sz="1600" dirty="0">
                <a:solidFill>
                  <a:srgbClr val="2C2D2E"/>
                </a:solidFill>
                <a:latin typeface="Golos Text" panose="020B0503020202020204"/>
              </a:rPr>
              <a:t>Профилирование </a:t>
            </a:r>
          </a:p>
          <a:p>
            <a:pPr marL="1485900" lvl="2" indent="-342900">
              <a:buFont typeface="Arial" panose="020B0604020202020204" pitchFamily="34" charset="0"/>
              <a:buAutoNum type="arabicParenR"/>
            </a:pPr>
            <a:r>
              <a:rPr lang="ru-RU" sz="1600" dirty="0">
                <a:solidFill>
                  <a:srgbClr val="2C2D2E"/>
                </a:solidFill>
                <a:latin typeface="Golos Text" panose="020B0503020202020204"/>
              </a:rPr>
              <a:t>Сравнение надежности во время учений</a:t>
            </a:r>
            <a:endParaRPr lang="ru-RU" sz="1800" dirty="0">
              <a:solidFill>
                <a:srgbClr val="2C2D2E"/>
              </a:solidFill>
              <a:latin typeface="Golos Text" panose="020B0503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4836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/>
            <a:r>
              <a:rPr lang="ru-RU" sz="4400" dirty="0"/>
              <a:t>Спасибо</a:t>
            </a:r>
            <a:br>
              <a:rPr lang="ru-RU" sz="4400" dirty="0"/>
            </a:br>
            <a:r>
              <a:rPr lang="ru-RU" sz="4400" dirty="0"/>
              <a:t>за внимание!</a:t>
            </a:r>
            <a:endParaRPr lang="en-US" sz="4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45834-34CB-F6E2-51BC-F26A92C144A1}"/>
              </a:ext>
            </a:extLst>
          </p:cNvPr>
          <p:cNvSpPr txBox="1"/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  <a:latin typeface="Golos Text" panose="020B0503020202020204" pitchFamily="34" charset="-52"/>
                <a:cs typeface="Golos Text" panose="020B0503020202020204" pitchFamily="34" charset="-52"/>
              </a:rPr>
              <a:t>Ваши 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2BEA39AC-0C16-00A4-A7D1-16251640B1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654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D6F04732-FA0C-6214-4E09-404CAC7C88A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469534-90B7-5774-2306-1A9DD2D6F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E95D14C-0749-B366-DF60-831456AD6E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8376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359C3AC6-6CD1-C215-A3EB-1B669F1857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2A005B5-E37E-D5F7-C74B-2628D4CDB8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683ECEF-C126-4F4F-2B77-7FC63C7D7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07358EA-8600-ADBA-52DF-6AC12A92CA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6774C3B-FC5A-185E-8092-889B7F24F4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35407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3B75BB7E-5242-607C-D973-5C88E2FAB3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E922D73-8950-E8DA-530F-B7973DB0EC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22F25C4-7663-582D-5776-E7C30E76E2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1D6CCC61-BB2F-AF7A-925F-8FDA44CDA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8716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0F00B-44C4-A9A6-336D-5B22214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3C0915-3C9E-B678-5CAD-719955CF6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4FD5B4-DE07-9386-5C01-45B27A757E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695881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B39C447F-7789-D914-2682-159AE682088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586" b="586"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A915A35-EC87-76A1-7F8F-9378EFC6B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F7CD16-D4EE-5D1A-67C6-8FC838F9763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283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EC9FE03F-277F-A8A4-C0C6-0727AF17B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C9A927D3-D22C-72D3-9160-2A7238153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8" name="Рисунок 7">
            <a:extLst>
              <a:ext uri="{FF2B5EF4-FFF2-40B4-BE49-F238E27FC236}">
                <a16:creationId xmlns:a16="http://schemas.microsoft.com/office/drawing/2014/main" id="{7D6E8493-F34E-A3DE-5CC9-A51F7FEAAC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pic>
        <p:nvPicPr>
          <p:cNvPr id="14" name="Рисунок 13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55CAB40C-5337-8BF0-0625-E685F899AA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5924" b="592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603980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14035420-BC7F-2B5B-9DC7-253E9700DE0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B1B7B10-8BE9-0D4B-4BEE-4D9FECFAD7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230AEA4-B064-F849-E3CD-DAD6A93B849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3F843F57-4FDA-9C25-01A0-9142B2AC0C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3DB4739-E298-9FB8-621A-63B5AD7B167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044626B9-CC56-F5AC-20ED-9D24FFDB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C4EA0E19-5F7D-AE8D-E253-F58186F00CD1}"/>
              </a:ext>
            </a:extLst>
          </p:cNvPr>
          <p:cNvSpPr>
            <a:spLocks noGrp="1"/>
          </p:cNvSpPr>
          <p:nvPr>
            <p:ph sz="half" idx="26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3" name="Рисунок 12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D789FEA7-5AC2-99BA-BB98-5D94990238D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11" b="6711"/>
          <a:stretch>
            <a:fillRect/>
          </a:stretch>
        </p:blipFill>
        <p:spPr/>
      </p:pic>
      <p:sp>
        <p:nvSpPr>
          <p:cNvPr id="10" name="Рисунок 9">
            <a:extLst>
              <a:ext uri="{FF2B5EF4-FFF2-40B4-BE49-F238E27FC236}">
                <a16:creationId xmlns:a16="http://schemas.microsoft.com/office/drawing/2014/main" id="{98BE48A4-EBBB-156D-739A-E7D0659C9501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/>
      </p:sp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96B9C87A-1CB9-8548-2E75-F473D1DB0B0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/>
      </p:sp>
    </p:spTree>
    <p:extLst>
      <p:ext uri="{BB962C8B-B14F-4D97-AF65-F5344CB8AC3E}">
        <p14:creationId xmlns:p14="http://schemas.microsoft.com/office/powerpoint/2010/main" val="29358888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20DBFC-6C80-6C49-5394-0A6FB6DAB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94B8CD1-C0D2-3E0D-BEF2-7B51C67BD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" name="Рисунок 9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1350F252-A57D-E561-C9FF-C567FEE1DFB1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/>
          <a:srcRect t="5924" b="5924"/>
          <a:stretch>
            <a:fillRect/>
          </a:stretch>
        </p:blipFill>
        <p:spPr/>
      </p:pic>
      <p:sp>
        <p:nvSpPr>
          <p:cNvPr id="5" name="Рисунок 4">
            <a:extLst>
              <a:ext uri="{FF2B5EF4-FFF2-40B4-BE49-F238E27FC236}">
                <a16:creationId xmlns:a16="http://schemas.microsoft.com/office/drawing/2014/main" id="{635C7FA0-CA3F-99C6-A092-B8AB77EF3EE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/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8BD1F05A-4D93-BBD5-5092-281EBB8326D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965F9921-F51F-C17A-7697-90CCBA75BC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8" name="Рисунок 7">
            <a:extLst>
              <a:ext uri="{FF2B5EF4-FFF2-40B4-BE49-F238E27FC236}">
                <a16:creationId xmlns:a16="http://schemas.microsoft.com/office/drawing/2014/main" id="{435074E3-2EE0-D6EC-E4D4-936FD11A5ED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/>
      </p:sp>
    </p:spTree>
    <p:extLst>
      <p:ext uri="{BB962C8B-B14F-4D97-AF65-F5344CB8AC3E}">
        <p14:creationId xmlns:p14="http://schemas.microsoft.com/office/powerpoint/2010/main" val="3358523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396C84A0-6805-22CC-8370-4BB5276FE4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1A8490-1FF6-0E6E-8A8F-4B88094CBE8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E856410-4EF1-AD81-1ABA-060749F7BDF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FBC0C6B6-A6AC-5C98-DFAB-E1AA4CC8B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pic>
        <p:nvPicPr>
          <p:cNvPr id="16" name="Рисунок 15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766C9A8E-4928-9833-EF09-D6BAA450CA17}"/>
              </a:ext>
            </a:extLst>
          </p:cNvPr>
          <p:cNvPicPr>
            <a:picLocks noGrp="1" noChangeAspect="1"/>
          </p:cNvPicPr>
          <p:nvPr>
            <p:ph type="pic" sz="quarter" idx="31"/>
          </p:nvPr>
        </p:nvPicPr>
        <p:blipFill rotWithShape="1">
          <a:blip r:embed="rId2"/>
          <a:srcRect l="-243" t="8890" r="243" b="31362"/>
          <a:stretch/>
        </p:blipFill>
        <p:spPr>
          <a:xfrm>
            <a:off x="454050" y="952607"/>
            <a:ext cx="2589213" cy="1304294"/>
          </a:xfrm>
        </p:spPr>
      </p:pic>
      <p:sp>
        <p:nvSpPr>
          <p:cNvPr id="7" name="Рисунок 6">
            <a:extLst>
              <a:ext uri="{FF2B5EF4-FFF2-40B4-BE49-F238E27FC236}">
                <a16:creationId xmlns:a16="http://schemas.microsoft.com/office/drawing/2014/main" id="{85978689-CD89-E96E-2201-F9A2214F8C5E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/>
      </p:sp>
      <p:sp>
        <p:nvSpPr>
          <p:cNvPr id="8" name="Рисунок 7">
            <a:extLst>
              <a:ext uri="{FF2B5EF4-FFF2-40B4-BE49-F238E27FC236}">
                <a16:creationId xmlns:a16="http://schemas.microsoft.com/office/drawing/2014/main" id="{BE87A544-55FB-1C80-6A79-70F4E704BF42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/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D057E28-B633-327F-9C42-D2CC507D781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020292B5-6AA1-44D1-C318-6077FB03E6C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E189EAC7-D2DA-00C2-DBDF-A7C6CFF1D02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12" name="Рисунок 11">
            <a:extLst>
              <a:ext uri="{FF2B5EF4-FFF2-40B4-BE49-F238E27FC236}">
                <a16:creationId xmlns:a16="http://schemas.microsoft.com/office/drawing/2014/main" id="{924ACE34-10A6-1C8E-8DAD-9AA9B4250EA3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/>
      </p:sp>
      <p:sp>
        <p:nvSpPr>
          <p:cNvPr id="13" name="Рисунок 12">
            <a:extLst>
              <a:ext uri="{FF2B5EF4-FFF2-40B4-BE49-F238E27FC236}">
                <a16:creationId xmlns:a16="http://schemas.microsoft.com/office/drawing/2014/main" id="{7435FDD6-FF73-314F-0ECA-07ACCB2459D5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</p:sp>
      <p:sp>
        <p:nvSpPr>
          <p:cNvPr id="14" name="Рисунок 13">
            <a:extLst>
              <a:ext uri="{FF2B5EF4-FFF2-40B4-BE49-F238E27FC236}">
                <a16:creationId xmlns:a16="http://schemas.microsoft.com/office/drawing/2014/main" id="{9CAB6ECF-A625-86F0-2A87-1E656A6B5A74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</p:spTree>
    <p:extLst>
      <p:ext uri="{BB962C8B-B14F-4D97-AF65-F5344CB8AC3E}">
        <p14:creationId xmlns:p14="http://schemas.microsoft.com/office/powerpoint/2010/main" val="509741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E7C397-FDBA-8489-4F8A-3A2077ACC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55BF5-5CD8-E220-1E0D-2411C8DC6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/>
            <a:r>
              <a:rPr lang="ru-RU" sz="4400" dirty="0"/>
              <a:t>Спасибо</a:t>
            </a:r>
            <a:br>
              <a:rPr lang="ru-RU" sz="4400" dirty="0"/>
            </a:br>
            <a:r>
              <a:rPr lang="ru-RU" sz="4400" dirty="0"/>
              <a:t>за внимание!</a:t>
            </a:r>
            <a:endParaRPr lang="en-US" sz="4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B2883-4C5A-3242-F253-14BC8ABF3CEB}"/>
              </a:ext>
            </a:extLst>
          </p:cNvPr>
          <p:cNvSpPr txBox="1"/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  <a:latin typeface="Golos Text" panose="020B0503020202020204" pitchFamily="34" charset="-52"/>
                <a:cs typeface="Golos Text" panose="020B0503020202020204" pitchFamily="34" charset="-52"/>
              </a:rPr>
              <a:t>Ваши 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2442718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F6E865-1779-C1D3-8C2B-CE6D381F7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600" dirty="0"/>
              <a:t>Рекомендации по оформлению слайдов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5A86CA11-FF94-52CB-154C-7057EE646FD8}"/>
              </a:ext>
            </a:extLst>
          </p:cNvPr>
          <p:cNvSpPr txBox="1">
            <a:spLocks/>
          </p:cNvSpPr>
          <p:nvPr/>
        </p:nvSpPr>
        <p:spPr>
          <a:xfrm>
            <a:off x="436728" y="1021377"/>
            <a:ext cx="4327219" cy="20425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SzPct val="100000"/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На слайдах должно быть как можно меньше текста. Не бойтесь оставлять свободное место, ведь оно имеет такую же ценность, как картинка или текст. </a:t>
            </a:r>
            <a:endParaRPr lang="ru-RU" sz="1200" b="0" i="0" dirty="0">
              <a:effectLst/>
              <a:latin typeface="Golos Text" panose="020B0503020202020204"/>
            </a:endParaRP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latin typeface="Golos Text" panose="020B0503020202020204"/>
              </a:rPr>
              <a:t> </a:t>
            </a:r>
            <a:r>
              <a:rPr lang="ru-RU" sz="1200" dirty="0"/>
              <a:t>Текст должен быть читабельным.</a:t>
            </a:r>
            <a:endParaRPr lang="ru-RU" sz="1200" dirty="0">
              <a:latin typeface="Golos Text" panose="020B0503020202020204"/>
            </a:endParaRP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latin typeface="Golos Text" panose="020B0503020202020204"/>
              </a:rPr>
              <a:t> </a:t>
            </a:r>
            <a:r>
              <a:rPr lang="ru-RU" sz="1200" dirty="0">
                <a:latin typeface="Golos Text" panose="020B0503020202020204" pitchFamily="34" charset="0"/>
                <a:ea typeface="Golos Text" panose="020B0503020202020204" pitchFamily="34" charset="0"/>
              </a:rPr>
              <a:t>Делайте акцент на самом важном, выделяя слова, например, другим цветом либо цветными плашками, или </a:t>
            </a:r>
            <a:r>
              <a:rPr lang="ru-RU" sz="1200" dirty="0">
                <a:effectLst/>
                <a:latin typeface="Golos Text" panose="020B0503020202020204" pitchFamily="34" charset="0"/>
                <a:ea typeface="Golos Text" panose="020B0503020202020204" pitchFamily="34" charset="0"/>
              </a:rPr>
              <a:t>же используя жирное или курсивное начертание.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Не оставляйте «висячие» предлоги, их нужно переносить на следующую строку. 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0A31D99C-9EE7-7438-A8F6-8A255AD5CCD2}"/>
              </a:ext>
            </a:extLst>
          </p:cNvPr>
          <p:cNvSpPr txBox="1">
            <a:spLocks/>
          </p:cNvSpPr>
          <p:nvPr/>
        </p:nvSpPr>
        <p:spPr>
          <a:xfrm>
            <a:off x="4795120" y="1051995"/>
            <a:ext cx="2031707" cy="2920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SzPct val="100000"/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00" i="1" dirty="0"/>
              <a:t>Пример оформления слайда:</a:t>
            </a:r>
          </a:p>
        </p:txBody>
      </p:sp>
      <p:pic>
        <p:nvPicPr>
          <p:cNvPr id="5" name="Рисунок 4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30100B6D-2EAC-D80B-983A-F420D977B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787" y="1344079"/>
            <a:ext cx="3247278" cy="182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4332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F6E865-1779-C1D3-8C2B-CE6D381F7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600" dirty="0"/>
              <a:t>Рекомендации по оформлению слайдов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3251CB0-746D-A717-9B37-016B96D921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4328" y="974866"/>
            <a:ext cx="8253351" cy="257168"/>
          </a:xfrm>
        </p:spPr>
        <p:txBody>
          <a:bodyPr>
            <a:normAutofit lnSpcReduction="10000"/>
          </a:bodyPr>
          <a:lstStyle/>
          <a:p>
            <a:pPr>
              <a:spcBef>
                <a:spcPts val="0"/>
              </a:spcBef>
            </a:pPr>
            <a:r>
              <a:rPr lang="ru-RU" sz="1200" dirty="0"/>
              <a:t>В шаблоне презентации представлено несколько вариантов фонов.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endParaRPr lang="ru-RU" sz="1800" dirty="0"/>
          </a:p>
        </p:txBody>
      </p:sp>
      <p:pic>
        <p:nvPicPr>
          <p:cNvPr id="11" name="Рисунок 10" descr="Изображение выглядит как стрела&#10;&#10;Автоматически созданное описание">
            <a:extLst>
              <a:ext uri="{FF2B5EF4-FFF2-40B4-BE49-F238E27FC236}">
                <a16:creationId xmlns:a16="http://schemas.microsoft.com/office/drawing/2014/main" id="{2CAC1882-B83E-E295-975B-04CCF92AD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265" y="2863302"/>
            <a:ext cx="1854220" cy="1060711"/>
          </a:xfrm>
          <a:prstGeom prst="rect">
            <a:avLst/>
          </a:prstGeom>
        </p:spPr>
      </p:pic>
      <p:pic>
        <p:nvPicPr>
          <p:cNvPr id="13" name="Рисунок 12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A0B55B04-6B68-F1FD-0C61-09A647061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138" y="2560072"/>
            <a:ext cx="1807636" cy="104985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F1A216D-6E3A-375D-D799-488E9A560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8657" y="3956648"/>
            <a:ext cx="1815042" cy="1040979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0386C1B8-7B5C-45A6-C667-01CB24B810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4545" y="3961949"/>
            <a:ext cx="1854220" cy="1063450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35F919F3-5767-C579-9FFB-76AF9EDFA2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389" y="2232422"/>
            <a:ext cx="1806219" cy="1016439"/>
          </a:xfrm>
          <a:prstGeom prst="rect">
            <a:avLst/>
          </a:prstGeom>
        </p:spPr>
      </p:pic>
      <p:pic>
        <p:nvPicPr>
          <p:cNvPr id="34" name="Рисунок 33" descr="Изображение выглядит как текст, электроника, дисплей&#10;&#10;Автоматически созданное описание">
            <a:extLst>
              <a:ext uri="{FF2B5EF4-FFF2-40B4-BE49-F238E27FC236}">
                <a16:creationId xmlns:a16="http://schemas.microsoft.com/office/drawing/2014/main" id="{E9645F72-2EEB-F09D-15A0-B072862DA1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771" y="1538719"/>
            <a:ext cx="2148725" cy="1247950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97861AD1-B11F-2C41-6D57-28BBC7F374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5045" y="2823712"/>
            <a:ext cx="1806218" cy="1014017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79ADAFAC-5582-2823-5477-B9FC9ED692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533" y="2589779"/>
            <a:ext cx="1806219" cy="1016439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AE4CC287-7E2C-12D7-7703-09A4F157F3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990" y="2093237"/>
            <a:ext cx="1806219" cy="1016439"/>
          </a:xfrm>
          <a:prstGeom prst="rect">
            <a:avLst/>
          </a:prstGeom>
        </p:spPr>
      </p:pic>
      <p:pic>
        <p:nvPicPr>
          <p:cNvPr id="39" name="Рисунок 38" descr="Изображение выглядит как текст, электроника, дисплей&#10;&#10;Автоматически созданное описание">
            <a:extLst>
              <a:ext uri="{FF2B5EF4-FFF2-40B4-BE49-F238E27FC236}">
                <a16:creationId xmlns:a16="http://schemas.microsoft.com/office/drawing/2014/main" id="{7F4F129D-D192-D5EC-4045-6FF69EE454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9123" y="1502150"/>
            <a:ext cx="2148725" cy="1247950"/>
          </a:xfrm>
          <a:prstGeom prst="rect">
            <a:avLst/>
          </a:prstGeom>
        </p:spPr>
      </p:pic>
      <p:sp>
        <p:nvSpPr>
          <p:cNvPr id="40" name="Объект 2">
            <a:extLst>
              <a:ext uri="{FF2B5EF4-FFF2-40B4-BE49-F238E27FC236}">
                <a16:creationId xmlns:a16="http://schemas.microsoft.com/office/drawing/2014/main" id="{1142AB3C-C9FB-88F2-21DE-8C13C3A0649D}"/>
              </a:ext>
            </a:extLst>
          </p:cNvPr>
          <p:cNvSpPr txBox="1">
            <a:spLocks/>
          </p:cNvSpPr>
          <p:nvPr/>
        </p:nvSpPr>
        <p:spPr>
          <a:xfrm>
            <a:off x="430355" y="1239334"/>
            <a:ext cx="3377369" cy="2920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SzPct val="100000"/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dirty="0"/>
              <a:t>Их можно </a:t>
            </a:r>
            <a:r>
              <a:rPr lang="ru-RU" sz="1200" dirty="0" err="1"/>
              <a:t>миксовать</a:t>
            </a:r>
            <a:r>
              <a:rPr lang="ru-RU" sz="1200" dirty="0"/>
              <a:t>: </a:t>
            </a:r>
          </a:p>
        </p:txBody>
      </p:sp>
      <p:sp>
        <p:nvSpPr>
          <p:cNvPr id="41" name="Объект 2">
            <a:extLst>
              <a:ext uri="{FF2B5EF4-FFF2-40B4-BE49-F238E27FC236}">
                <a16:creationId xmlns:a16="http://schemas.microsoft.com/office/drawing/2014/main" id="{2CE85022-AA2F-E141-4234-EEBCC6A41382}"/>
              </a:ext>
            </a:extLst>
          </p:cNvPr>
          <p:cNvSpPr txBox="1">
            <a:spLocks/>
          </p:cNvSpPr>
          <p:nvPr/>
        </p:nvSpPr>
        <p:spPr>
          <a:xfrm>
            <a:off x="4385980" y="1216089"/>
            <a:ext cx="4251716" cy="292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SzPct val="100000"/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dirty="0"/>
              <a:t>А можно выбрать один цвет для всей презентации:</a:t>
            </a:r>
          </a:p>
        </p:txBody>
      </p:sp>
    </p:spTree>
    <p:extLst>
      <p:ext uri="{BB962C8B-B14F-4D97-AF65-F5344CB8AC3E}">
        <p14:creationId xmlns:p14="http://schemas.microsoft.com/office/powerpoint/2010/main" val="40316858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34C1837-1767-690C-EEDD-0863FF186E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005763"/>
            <a:ext cx="8347587" cy="2828482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Для того чтобы ваша презентация вызывала у аудитории эмоциональный отклик, используйте подходящие изображения.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Выбирайте фотографии только высокого разрешения.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Любые фотографии могут быть использованы в презентации только с соблюдением авторских прав.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latin typeface="Golos Text" panose="020B0503020202020204"/>
              </a:rPr>
              <a:t> </a:t>
            </a:r>
            <a:r>
              <a:rPr lang="ru-RU" sz="1200" dirty="0"/>
              <a:t>Таблицы и списки по возможности заменяйте инфографикой и диаграммами. Если же необходима таблица, то делайте ее максимально простой и понятной для аудитории.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endParaRPr lang="ru-RU" sz="1200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8D7015-8078-E895-F588-5053D801C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600" dirty="0"/>
              <a:t>Рекомендации по оформлению слайдов</a:t>
            </a:r>
          </a:p>
        </p:txBody>
      </p:sp>
    </p:spTree>
    <p:extLst>
      <p:ext uri="{BB962C8B-B14F-4D97-AF65-F5344CB8AC3E}">
        <p14:creationId xmlns:p14="http://schemas.microsoft.com/office/powerpoint/2010/main" val="35018288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5458</TotalTime>
  <Words>418</Words>
  <Application>Microsoft Macintosh PowerPoint</Application>
  <PresentationFormat>Экран (16:9)</PresentationFormat>
  <Paragraphs>56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8" baseType="lpstr">
      <vt:lpstr>ALS Gorizont Bold Expanded</vt:lpstr>
      <vt:lpstr>Arial</vt:lpstr>
      <vt:lpstr>Calibri</vt:lpstr>
      <vt:lpstr>Golos Text</vt:lpstr>
      <vt:lpstr>Golos Text DemiBold</vt:lpstr>
      <vt:lpstr>Golos Text SemiBold</vt:lpstr>
      <vt:lpstr>Тема1</vt:lpstr>
      <vt:lpstr>Реинжиниринг сервиса интеграции автомобильных объявлений для повышения отказоустойчивости</vt:lpstr>
      <vt:lpstr>Актуальность темы</vt:lpstr>
      <vt:lpstr>Цели и задачи ВКР</vt:lpstr>
      <vt:lpstr>Что сделано на текущий момент</vt:lpstr>
      <vt:lpstr>Структура работы</vt:lpstr>
      <vt:lpstr>Структура работы</vt:lpstr>
      <vt:lpstr>Спасибо за внимание!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  <vt:lpstr>Рекомендации по оформлению слайдов</vt:lpstr>
      <vt:lpstr>Рекомендации по оформлению слайдов</vt:lpstr>
      <vt:lpstr>Рекомендации по оформлению слайдов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Сиразетдинов Азат Ниязович</cp:lastModifiedBy>
  <cp:revision>123</cp:revision>
  <dcterms:created xsi:type="dcterms:W3CDTF">2014-06-27T12:30:22Z</dcterms:created>
  <dcterms:modified xsi:type="dcterms:W3CDTF">2026-04-19T23:53:16Z</dcterms:modified>
</cp:coreProperties>
</file>